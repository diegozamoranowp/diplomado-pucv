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1" r:id="rId1"/>
    <p:sldMasterId id="2147483682" r:id="rId2"/>
    <p:sldMasterId id="2147483683" r:id="rId3"/>
  </p:sldMasterIdLst>
  <p:notesMasterIdLst>
    <p:notesMasterId r:id="rId7"/>
  </p:notesMasterIdLst>
  <p:sldIdLst>
    <p:sldId id="256" r:id="rId4"/>
    <p:sldId id="326" r:id="rId52"/>
    <p:sldId id="295" r:id="rId22"/>
    <p:sldId id="296" r:id="rId23"/>
    <p:sldId id="297" r:id="rId24"/>
    <p:sldId id="298" r:id="rId25"/>
    <p:sldId id="299" r:id="rId26"/>
    <p:sldId id="300" r:id="rId27"/>
    <p:sldId id="325" r:id="rId51"/>
    <p:sldId id="301" r:id="rId28"/>
    <p:sldId id="302" r:id="rId29"/>
    <p:sldId id="303" r:id="rId30"/>
    <p:sldId id="324" r:id="rId50"/>
    <p:sldId id="323" r:id="rId49"/>
    <p:sldId id="304" r:id="rId31"/>
    <p:sldId id="305" r:id="rId32"/>
    <p:sldId id="306" r:id="rId33"/>
    <p:sldId id="307" r:id="rId34"/>
    <p:sldId id="308" r:id="rId35"/>
    <p:sldId id="309" r:id="rId36"/>
    <p:sldId id="310" r:id="rId37"/>
    <p:sldId id="311" r:id="rId38"/>
    <p:sldId id="312" r:id="rId39"/>
    <p:sldId id="313" r:id="rId40"/>
    <p:sldId id="314" r:id="rId41"/>
    <p:sldId id="315" r:id="rId42"/>
    <p:sldId id="316" r:id="rId43"/>
    <p:sldId id="317" r:id="rId44"/>
    <p:sldId id="318" r:id="rId45"/>
    <p:sldId id="319" r:id="rId46"/>
    <p:sldId id="320" r:id="rId47"/>
    <p:sldId id="322" r:id="rId5"/>
    <p:sldId id="321" r:id="rId48"/>
    <p:sldId id="294" r:id="rId6"/>
  </p:sldIdLst>
  <p:sldSz cx="12192000" cy="6858000"/>
  <p:notesSz cx="6858000" cy="9144000"/>
  <p:embeddedFontLst>
    <p:embeddedFont>
      <p:font typeface="Play" panose="020B0604020202020204" charset="0"/>
      <p:regular r:id="rId8"/>
      <p:bold r:id="rId9"/>
    </p:embeddedFont>
    <p:embeddedFont>
      <p:font typeface="Roboto Condensed" panose="02000000000000000000" pitchFamily="2" charset="0"/>
      <p:regular r:id="rId10"/>
      <p:bold r:id="rId11"/>
      <p:italic r:id="rId12"/>
      <p:boldItalic r:id="rId13"/>
    </p:embeddedFont>
    <p:embeddedFont>
      <p:font typeface="Roboto Condensed Medium" panose="02000000000000000000" pitchFamily="2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26BE66F-247E-4150-94A5-1B4003634044}">
  <a:tblStyle styleId="{326BE66F-247E-4150-94A5-1B400363404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32.xml"/><Relationship Id="rId6" Type="http://schemas.openxmlformats.org/officeDocument/2006/relationships/slide" Target="slides/slide34.xml"/><Relationship Id="rId7" Type="http://schemas.openxmlformats.org/officeDocument/2006/relationships/notesMaster" Target="notesMasters/notes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6" Type="http://schemas.openxmlformats.org/officeDocument/2006/relationships/font" Target="fonts/font9.fntdata"/><Relationship Id="rId17" Type="http://schemas.openxmlformats.org/officeDocument/2006/relationships/font" Target="fonts/font10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48" Type="http://schemas.openxmlformats.org/officeDocument/2006/relationships/slide" Target="slides/slide33.xml"/><Relationship Id="rId49" Type="http://schemas.openxmlformats.org/officeDocument/2006/relationships/slide" Target="slides/slide14.xml"/><Relationship Id="rId50" Type="http://schemas.openxmlformats.org/officeDocument/2006/relationships/slide" Target="slides/slide13.xml"/><Relationship Id="rId51" Type="http://schemas.openxmlformats.org/officeDocument/2006/relationships/slide" Target="slides/slide9.xml"/><Relationship Id="rId5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227" name="Google Shape;22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39" name="Google Shape;839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9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86" name="Google Shape;86;p1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1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6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6"/>
          <p:cNvSpPr txBox="1"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1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05" name="Google Shape;105;p1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9" name="Google Shape;109;p18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18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1" name="Google Shape;111;p18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14" name="Google Shape;114;p1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19" name="Google Shape;119;p1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body" idx="1"/>
          </p:nvPr>
        </p:nvSpPr>
        <p:spPr>
          <a:xfrm>
            <a:off x="5183188" y="987426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body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8" name="Google Shape;128;p21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1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30" name="Google Shape;130;p21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2"/>
          <p:cNvSpPr>
            <a:spLocks noGrp="1"/>
          </p:cNvSpPr>
          <p:nvPr>
            <p:ph type="pic" idx="2"/>
          </p:nvPr>
        </p:nvSpPr>
        <p:spPr>
          <a:xfrm>
            <a:off x="5183188" y="987426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34" name="Google Shape;134;p22"/>
          <p:cNvSpPr txBox="1">
            <a:spLocks noGrp="1"/>
          </p:cNvSpPr>
          <p:nvPr>
            <p:ph type="body" idx="1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35" name="Google Shape;135;p22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22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37" name="Google Shape;137;p22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5"/>
            <a:ext cx="4351339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1" name="Google Shape;141;p23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23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43" name="Google Shape;143;p23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>
            <a:spLocks noGrp="1"/>
          </p:cNvSpPr>
          <p:nvPr>
            <p:ph type="title"/>
          </p:nvPr>
        </p:nvSpPr>
        <p:spPr>
          <a:xfrm rot="5400000">
            <a:off x="7133432" y="1956596"/>
            <a:ext cx="5811839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4"/>
            <a:ext cx="5811839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2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49" name="Google Shape;149;p2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9" name="Google Shape;159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61" name="Google Shape;161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2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73" name="Google Shape;17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2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80" name="Google Shape;18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3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84" name="Google Shape;184;p3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3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86" name="Google Shape;186;p3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7" name="Google Shape;187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89" name="Google Shape;189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94" name="Google Shape;194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98" name="Google Shape;198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3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202" name="Google Shape;202;p3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203" name="Google Shape;203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205" name="Google Shape;205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3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09" name="Google Shape;209;p3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210" name="Google Shape;210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212" name="Google Shape;212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218" name="Google Shape;218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3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2" name="Google Shape;222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224" name="Google Shape;224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CL"/>
              <a:t>2</a:t>
            </a:r>
            <a:endParaRPr/>
          </a:p>
        </p:txBody>
      </p:sp>
      <p:sp>
        <p:nvSpPr>
          <p:cNvPr id="155" name="Google Shape;15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37"/>
          <p:cNvPicPr preferRelativeResize="0"/>
          <p:nvPr/>
        </p:nvPicPr>
        <p:blipFill rotWithShape="1">
          <a:blip r:embed="rId3">
            <a:alphaModFix/>
          </a:blip>
          <a:srcRect t="13816" b="1809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7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rgbClr val="A42921">
                  <a:alpha val="70196"/>
                </a:srgbClr>
              </a:gs>
              <a:gs pos="12000">
                <a:srgbClr val="A42921">
                  <a:alpha val="70196"/>
                </a:srgbClr>
              </a:gs>
              <a:gs pos="51000">
                <a:srgbClr val="A42921">
                  <a:alpha val="90196"/>
                </a:srgbClr>
              </a:gs>
              <a:gs pos="100000">
                <a:srgbClr val="A4292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1" name="Google Shape;231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277327" y="356346"/>
            <a:ext cx="1428487" cy="3294529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37"/>
          <p:cNvSpPr txBox="1"/>
          <p:nvPr/>
        </p:nvSpPr>
        <p:spPr>
          <a:xfrm>
            <a:off x="746312" y="5923429"/>
            <a:ext cx="3076387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Ing</a:t>
            </a:r>
            <a:r>
              <a:rPr lang="en-US" sz="1400" b="0" i="0" u="none" strike="noStrike" cap="none" dirty="0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Diego Zamorano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diego.zamorano.p@mail.pucv.cl</a:t>
            </a:r>
            <a:endParaRPr lang="en-US" sz="1400" b="0" i="0" u="none" strike="noStrike" cap="none" dirty="0">
              <a:solidFill>
                <a:srgbClr val="000000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33" name="Google Shape;233;p37"/>
          <p:cNvSpPr txBox="1"/>
          <p:nvPr/>
        </p:nvSpPr>
        <p:spPr>
          <a:xfrm>
            <a:off x="831257" y="2309898"/>
            <a:ext cx="8745362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7200" b="0" i="0" u="none" strike="noStrike" cap="none" dirty="0" err="1">
                <a:solidFill>
                  <a:schemeClr val="lt1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Transformación digital</a:t>
            </a:r>
            <a:endParaRPr sz="1800" dirty="0"/>
          </a:p>
        </p:txBody>
      </p:sp>
      <p:sp>
        <p:nvSpPr>
          <p:cNvPr id="234" name="Google Shape;234;p37"/>
          <p:cNvSpPr txBox="1"/>
          <p:nvPr/>
        </p:nvSpPr>
        <p:spPr>
          <a:xfrm>
            <a:off x="831256" y="2002162"/>
            <a:ext cx="5097595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chemeClr val="lt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Módulo 3 · Clase 1 · Martes 7 de julio, 19:00–21:00 h</a:t>
            </a:r>
            <a:endParaRPr sz="1400" b="0" i="0" u="none" strike="noStrike" cap="none" dirty="0">
              <a:solidFill>
                <a:schemeClr val="lt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F6EA3A14-3C74-06F2-B702-0B97FE5C57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t>1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Sobre el relator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5300000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200" b="1">
                <a:solidFill>
                  <a:srgbClr val="3A3A3A"/>
                </a:solidFill>
                <a:latin typeface="Roboto Condensed"/>
              </a:rPr>
              <a:t>Ing. Diego Zamorano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3A3A3A"/>
                </a:solidFill>
                <a:latin typeface="Roboto Condensed"/>
              </a:rPr>
              <a:t>Cargo / rol actual: [Completa aquí]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3A3A3A"/>
                </a:solidFill>
                <a:latin typeface="Roboto Condensed"/>
              </a:rPr>
              <a:t>Experiencia profesional: [Completa aquí]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3A3A3A"/>
                </a:solidFill>
                <a:latin typeface="Roboto Condensed"/>
              </a:rPr>
              <a:t>Experiencia docente: [Completa aquí]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3A3A3A"/>
                </a:solidFill>
                <a:latin typeface="Roboto Condensed"/>
              </a:rPr>
              <a:t>Formación académica (título, diplomado): [Completa aquí]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400">
                <a:solidFill>
                  <a:srgbClr val="3A3A3A"/>
                </a:solidFill>
                <a:latin typeface="Roboto Condensed"/>
              </a:rPr>
              <a:t>diego.zamorano.p@mail.pucv.cl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</a:t>
            </a:r>
            <a:endParaRPr lang="en-US"/>
          </a:p>
        </p:txBody>
      </p:sp>
      <p:sp>
        <p:nvSpPr>
          <p:cNvPr id="253" name="Rectangle 252"/>
          <p:cNvSpPr/>
          <p:nvPr/>
        </p:nvSpPr>
        <p:spPr>
          <a:xfrm>
            <a:off x="7400000" y="1900000"/>
            <a:ext cx="3450000" cy="3450000"/>
          </a:xfrm>
          <a:prstGeom prst="rect">
            <a:avLst/>
          </a:prstGeom>
          <a:solidFill>
            <a:srgbClr val="F0F0F0"/>
          </a:solidFill>
          <a:ln w="15875">
            <a:solidFill>
              <a:srgbClr val="B0B0B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i="1">
                <a:solidFill>
                  <a:srgbClr val="808080"/>
                </a:solidFill>
                <a:latin typeface="Roboto Condensed"/>
              </a:rPr>
              <a:t>Espacio para fotografía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400000" y="5500000"/>
            <a:ext cx="345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A3A3A"/>
                </a:solidFill>
                <a:latin typeface="Roboto Condensed"/>
              </a:rPr>
              <a:t>Reemplazar este recuadro por una fotografía del relator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Objetivo del módulo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Analizar el proceso de transformación digital en las organizaciones, integrando inteligencia artificial con otras tecnologías emergentes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Examinar estrategias para implementar cambios digitales que mejoren la eficiencia operativa y la competitividad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3A3A3A"/>
                </a:solidFill>
                <a:latin typeface="Roboto Condensed"/>
              </a:rPr>
              <a:t>– Clase 1 (7 jul): digitalización, IA, IoT y Blockchain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3A3A3A"/>
                </a:solidFill>
                <a:latin typeface="Roboto Condensed"/>
              </a:rPr>
              <a:t>– Clase 2 (14 jul): Big Data/BI, Cloud, Automatización y Ciberseguridad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3A3A3A"/>
                </a:solidFill>
                <a:latin typeface="Roboto Condensed"/>
              </a:rPr>
              <a:t>– Evaluación del módulo: lunes 21 de julio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3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Agenda de la clase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3A3A3A"/>
                </a:solidFill>
                <a:latin typeface="Roboto Condensed"/>
              </a:rPr>
              <a:t>• La digitalización en la organización pública y privada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3A3A3A"/>
                </a:solidFill>
                <a:latin typeface="Roboto Condensed"/>
              </a:rPr>
              <a:t>– Caso comparativo: e-Estonia y la plataforma X-Road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3A3A3A"/>
                </a:solidFill>
                <a:latin typeface="Roboto Condensed"/>
              </a:rPr>
              <a:t>– Demostración en vivo: recorrido por e-Estonia y datos abiertos del Estado de Chile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3A3A3A"/>
                </a:solidFill>
                <a:latin typeface="Roboto Condensed"/>
              </a:rPr>
              <a:t>– Caso chileno: ClaveÚnica y la digitalización del Estado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3A3A3A"/>
                </a:solidFill>
                <a:latin typeface="Roboto Condensed"/>
              </a:rPr>
              <a:t>• Inteligencia Artificial en la transformación digital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3A3A3A"/>
                </a:solidFill>
                <a:latin typeface="Roboto Condensed"/>
              </a:rPr>
              <a:t>• El Internet de las Cosas (IoT)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3A3A3A"/>
                </a:solidFill>
                <a:latin typeface="Roboto Condensed"/>
              </a:rPr>
              <a:t>– Caso de estudio: John Deere y la Agricultura 4.0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3A3A3A"/>
                </a:solidFill>
                <a:latin typeface="Roboto Condensed"/>
              </a:rPr>
              <a:t>• Blockchain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3A3A3A"/>
                </a:solidFill>
                <a:latin typeface="Roboto Condensed"/>
              </a:rPr>
              <a:t>– Caso de estudio: IBM Food Trust, Walmart y la cadena de suministro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800">
                <a:solidFill>
                  <a:srgbClr val="3A3A3A"/>
                </a:solidFill>
                <a:latin typeface="Roboto Condensed"/>
              </a:rPr>
              <a:t>• Ética, privacidad y normativa: hilo transversal del diplomado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1. La digitalización en la organización pública y privada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3A3A3A"/>
                </a:solidFill>
                <a:latin typeface="Roboto Condensed Medium"/>
              </a:rPr>
              <a:t>Misma tecnología, incentivos y lógicas distintas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5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¿Qué entendemos por transformación digital?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Incorporar tecnologías digitales para mejorar procesos, servicios y capacidades de gestión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Dimensión interna: revisar procedimientos, estructuras jerárquicas, flujos de información y hábitos de trabajo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Dimensión externa: rediseñar cómo se entregan servicios y se construye confianza con clientes, usuarios y ciudadanos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No es solo tecnología: depende del entorno institucional y de los objetivos estratégicos de cada organización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6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Digitalización en el sector privado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Motor: competitividad, eficiencia y rentabilidad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Reducir costos de transacción, abrir canales de venta, acelerar la respuesta al cliente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Puede redefinir el modelo de negocio: de vender productos a operar plataformas de servicios y fidelización digital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Éxito medido en ROI, participación de mercado, ventas, productividad y márgenes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3A3A3A"/>
                </a:solidFill>
                <a:latin typeface="Roboto Condensed"/>
              </a:rPr>
              <a:t>– Ej.: logística con IA para rutas → menos combustible y mejores tiempos de entrega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3A3A3A"/>
                </a:solidFill>
                <a:latin typeface="Roboto Condensed"/>
              </a:rPr>
              <a:t>– Ej.: evaluación crediticia automatizada → aprobación más rápida y mejor detección de fraude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7</a:t>
            </a:r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Digitalización en el sector público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Finalidad: creación de valor público, no rentabilidad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Mandatos legales: equidad, transparencia, continuidad del servicio, rendición de cuentas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El Estado debe atender a toda la población: zonas rurales, adultos mayores, distintas capacidades digitales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No basta que el trámite sea rápido: debe ser accesible, comprensible, seguro y disponible para todos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Presiones institucionales: normas administrativas, ciclos políticos, controles presupuestarios, fiscalización externa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8</a:t>
            </a: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Público vs. privado: síntesis comparativa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Misma tecnología, dos lógicas de gestión distintas: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9</a:t>
            </a:r>
            <a:endParaRPr lang="en-US"/>
          </a:p>
        </p:txBody>
      </p:sp>
      <p:graphicFrame>
        <p:nvGraphicFramePr>
          <p:cNvPr id="253" name="Table 252"/>
          <p:cNvGraphicFramePr>
            <a:graphicFrameLocks noGrp="1"/>
          </p:cNvGraphicFramePr>
          <p:nvPr/>
        </p:nvGraphicFramePr>
        <p:xfrm>
          <a:off x="889446" y="2500000"/>
          <a:ext cx="10413108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1036"/>
                <a:gridCol w="3471036"/>
                <a:gridCol w="3471036"/>
              </a:tblGrid>
              <a:tr h="53333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 Condensed"/>
                        </a:rPr>
                        <a:t>Dimensión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 Condensed"/>
                        </a:rPr>
                        <a:t>Sector privado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Roboto Condensed"/>
                        </a:rPr>
                        <a:t>Sector público</a:t>
                      </a:r>
                    </a:p>
                  </a:txBody>
                  <a:tcPr>
                    <a:solidFill>
                      <a:srgbClr val="1F3B63"/>
                    </a:solidFill>
                  </a:tcPr>
                </a:tc>
              </a:tr>
              <a:tr h="533333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Finalidad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Rentabilidad y competitividad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Creación de valor público</a:t>
                      </a:r>
                    </a:p>
                  </a:txBody>
                  <a:tcPr/>
                </a:tc>
              </a:tr>
              <a:tr h="533333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Métrica de éxito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ROI, ventas, márgenes, participación de mercado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Cobertura, equidad, transparencia, oportunidad</a:t>
                      </a:r>
                    </a:p>
                  </a:txBody>
                  <a:tcPr/>
                </a:tc>
              </a:tr>
              <a:tr h="533333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Usuarios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Clientes que la organización elige atender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Toda la población, sin exclusión</a:t>
                      </a:r>
                    </a:p>
                  </a:txBody>
                  <a:tcPr/>
                </a:tc>
              </a:tr>
              <a:tr h="533333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Restricciones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Mercado, competencia, accionistas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Mandatos legales, ciclos políticos, fiscalización</a:t>
                      </a:r>
                    </a:p>
                  </a:txBody>
                  <a:tcPr/>
                </a:tc>
              </a:tr>
              <a:tr h="53333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Costo de fallar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Pérdida de clientes e ingresos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A3A3A"/>
                          </a:solidFill>
                          <a:latin typeface="Roboto Condensed"/>
                        </a:rPr>
                        <a:t>Vulneración de derechos y pérdida de confianza ciudadana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¿Paliativo o solución? El riesgo de digitalizar un mal proceso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Digitalizar un mal proceso traslada al entorno virtual las mismas demoras y duplicidades del papel</a:t>
            </a:r>
            <a:endParaRPr dirty="0"/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3A3A3A"/>
                </a:solidFill>
                <a:latin typeface="Roboto Condensed"/>
              </a:rPr>
              <a:t>– Ej.: trámite que inicia en línea pero exige imprimir, ir a la oficina y repetir información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Una transformación bien diseñada: simplifica procedimientos, conecta bases de datos, reduce discrecionalidad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Aumenta la trazabilidad de las decisiones y mejora la experiencia ciudadana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Requiere liderazgo estratégico que sostenga el cambio más allá de una administración específica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10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Caso: e-Estonia, la digitalización como política de Estado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6300000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Estado pequeño que convirtió la digitalización en política nacional de largo plazo</a:t>
            </a:r>
            <a:endParaRPr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Programa "salto del tigre" (Tiigrihüpe): conectividad, alfabetización digital, infraestructura y capacidades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Enfoque integral: identidad electrónica, interoperabilidad, seguridad de la información y simplificación normativa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Gran parte de los servicios públicos disponibles en línea de forma permanente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– Salud, impuestos, educación, registro empresarial, votación electrónica, beneficios sociales</a:t>
            </a:r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i="1">
                <a:solidFill>
                  <a:srgbClr val="3A3A3A"/>
                </a:solidFill>
                <a:latin typeface="Roboto Condensed"/>
              </a:rPr>
              <a:t>Fuente: e-Estonia Briefing Centre (e-estonia.com)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11</a:t>
            </a:r>
            <a:endParaRPr lang="en-US"/>
          </a:p>
        </p:txBody>
      </p:sp>
      <p:sp>
        <p:nvSpPr>
          <p:cNvPr id="253" name="Rounded Rectangle 252"/>
          <p:cNvSpPr/>
          <p:nvPr/>
        </p:nvSpPr>
        <p:spPr>
          <a:xfrm>
            <a:off x="7550000" y="2300000"/>
            <a:ext cx="3300000" cy="200000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770000" y="2520000"/>
            <a:ext cx="700000" cy="550000"/>
          </a:xfrm>
          <a:prstGeom prst="roundRect">
            <a:avLst/>
          </a:prstGeom>
          <a:solidFill>
            <a:srgbClr val="C8A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7770000" y="3200000"/>
            <a:ext cx="286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oboto Condensed"/>
              </a:rPr>
              <a:t>eID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770000" y="3550000"/>
            <a:ext cx="286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Roboto Condensed"/>
              </a:rPr>
              <a:t>Identidad digital
nacional</a:t>
            </a:r>
          </a:p>
        </p:txBody>
      </p:sp>
      <p:cxnSp>
        <p:nvCxnSpPr>
          <p:cNvPr id="257" name="Connector 256"/>
          <p:cNvCxnSpPr/>
          <p:nvPr/>
        </p:nvCxnSpPr>
        <p:spPr>
          <a:xfrm>
            <a:off x="10000000" y="2380000"/>
            <a:ext cx="65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10000000" y="2420000"/>
            <a:ext cx="65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000000" y="2460000"/>
            <a:ext cx="65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000000" y="2500000"/>
            <a:ext cx="65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0000000" y="2540000"/>
            <a:ext cx="65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TextBox 261"/>
          <p:cNvSpPr txBox="1"/>
          <p:nvPr/>
        </p:nvSpPr>
        <p:spPr>
          <a:xfrm>
            <a:off x="7550000" y="4450000"/>
            <a:ext cx="33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A3A3A"/>
                </a:solidFill>
                <a:latin typeface="Roboto Condensed"/>
              </a:rPr>
              <a:t>Referencial: tarjeta de identidad digital (eID)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Caso: la plataforma X-Road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6300000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Plataforma de código abierto para el intercambio seguro, trazable y estandarizado de datos</a:t>
            </a:r>
            <a:endParaRPr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Conecta instituciones públicas y actores privados autorizados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Arquitectura de confianza: cada organismo mantiene autonomía sobre sus propios 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Evita la gran base de datos centralizada (menor riesgo ante fallas o ataques)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Principio "una sola vez": el ciudadano no repite información ante distintos organismos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Discusión: ¿qué barreras enfrentaría un modelo así en nuestro contexto?</a:t>
            </a:r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– Mecánica: respondan en el chat (3 min); comentaremos 2–3 respuestas antes de continuar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i="1">
                <a:solidFill>
                  <a:srgbClr val="3A3A3A"/>
                </a:solidFill>
                <a:latin typeface="Roboto Condensed"/>
              </a:rPr>
              <a:t>Fuente: e-estonia.com · NIIS (x-road.global)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12</a:t>
            </a:r>
            <a:endParaRPr lang="en-US"/>
          </a:p>
        </p:txBody>
      </p:sp>
      <p:cxnSp>
        <p:nvCxnSpPr>
          <p:cNvPr id="253" name="Connector 252"/>
          <p:cNvCxnSpPr/>
          <p:nvPr/>
        </p:nvCxnSpPr>
        <p:spPr>
          <a:xfrm>
            <a:off x="9330000" y="2480000"/>
            <a:ext cx="1300000" cy="700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330000" y="2480000"/>
            <a:ext cx="850000" cy="2100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8480000" y="2480000"/>
            <a:ext cx="850000" cy="2100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8030000" y="2480000"/>
            <a:ext cx="1300000" cy="700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>
            <a:off x="10180000" y="3180000"/>
            <a:ext cx="450000" cy="1400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H="1">
            <a:off x="8480000" y="3180000"/>
            <a:ext cx="2150000" cy="1400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H="1">
            <a:off x="8030000" y="3180000"/>
            <a:ext cx="26000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8480000" y="4580000"/>
            <a:ext cx="17000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 flipV="1">
            <a:off x="8030000" y="3180000"/>
            <a:ext cx="2150000" cy="1400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H="1" flipV="1">
            <a:off x="8030000" y="3180000"/>
            <a:ext cx="450000" cy="140000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9000000" y="2150000"/>
            <a:ext cx="660000" cy="660000"/>
          </a:xfrm>
          <a:prstGeom prst="ellips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0E2841"/>
                </a:solidFill>
                <a:latin typeface="Roboto Condensed"/>
              </a:rPr>
              <a:t>Salud</a:t>
            </a:r>
          </a:p>
        </p:txBody>
      </p:sp>
      <p:sp>
        <p:nvSpPr>
          <p:cNvPr id="264" name="Oval 263"/>
          <p:cNvSpPr/>
          <p:nvPr/>
        </p:nvSpPr>
        <p:spPr>
          <a:xfrm>
            <a:off x="10300000" y="2850000"/>
            <a:ext cx="660000" cy="660000"/>
          </a:xfrm>
          <a:prstGeom prst="ellips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0E2841"/>
                </a:solidFill>
                <a:latin typeface="Roboto Condensed"/>
              </a:rPr>
              <a:t>Bancos</a:t>
            </a:r>
          </a:p>
        </p:txBody>
      </p:sp>
      <p:sp>
        <p:nvSpPr>
          <p:cNvPr id="265" name="Oval 264"/>
          <p:cNvSpPr/>
          <p:nvPr/>
        </p:nvSpPr>
        <p:spPr>
          <a:xfrm>
            <a:off x="9850000" y="4250000"/>
            <a:ext cx="660000" cy="660000"/>
          </a:xfrm>
          <a:prstGeom prst="ellips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0E2841"/>
                </a:solidFill>
                <a:latin typeface="Roboto Condensed"/>
              </a:rPr>
              <a:t>Municipios</a:t>
            </a:r>
          </a:p>
        </p:txBody>
      </p:sp>
      <p:sp>
        <p:nvSpPr>
          <p:cNvPr id="266" name="Oval 265"/>
          <p:cNvSpPr/>
          <p:nvPr/>
        </p:nvSpPr>
        <p:spPr>
          <a:xfrm>
            <a:off x="8150000" y="4250000"/>
            <a:ext cx="660000" cy="660000"/>
          </a:xfrm>
          <a:prstGeom prst="ellips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0E2841"/>
                </a:solidFill>
                <a:latin typeface="Roboto Condensed"/>
              </a:rPr>
              <a:t>Educación</a:t>
            </a:r>
          </a:p>
        </p:txBody>
      </p:sp>
      <p:sp>
        <p:nvSpPr>
          <p:cNvPr id="267" name="Oval 266"/>
          <p:cNvSpPr/>
          <p:nvPr/>
        </p:nvSpPr>
        <p:spPr>
          <a:xfrm>
            <a:off x="7700000" y="2850000"/>
            <a:ext cx="660000" cy="660000"/>
          </a:xfrm>
          <a:prstGeom prst="ellipse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0E2841"/>
                </a:solidFill>
                <a:latin typeface="Roboto Condensed"/>
              </a:rPr>
              <a:t>Impuestos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350000" y="4650000"/>
            <a:ext cx="37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A3A3A"/>
                </a:solidFill>
                <a:latin typeface="Roboto Condensed"/>
              </a:rPr>
              <a:t>Referencial: red distribuida sin autoridad central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Demostración en vivo (10 min): e-Estonia y datos abiertos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Recorrido guiado por e-estonia.com: catálogo de servicios públicos digitales en operación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Visualización en vivo del tráfico del ecosistema X-Road (x-road.global)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Contraparte local: portal de datos abiertos del Estado de Chile (datos.gob.cl)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Qué observar: cuántos servicios están 100% en línea y cómo se expone la interoperabilidad al ciudadano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Plan B ante fallas de conexión: capturas preparadas de cada sitio (anexo del material descargable)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13</a:t>
            </a:r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Caso chileno: ClaveÚnica y la digitalización del Estado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6300000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ClaveÚnica: identidad digital única para trámites del Estado — millones de usuarios activos y miles de trámites integrados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Ejemplos: Comisaría Virtual, Registro Social de Hogares, SII (operación renta masiva en línea)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Avance real, pero contraste con Estonia: interoperabilidad aún parcial entre servicios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El principio “una sola vez” no está consolidado: el ciudadano todavía repite información entre organismos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Discusión: ¿qué trámite de su organización (o que usan como ciudadanos) sigue exigiendo papel y por qué?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– Mecánica: respondan en el chat (3 min); comentaremos 2–3 respuestas antes de continuar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i="1">
                <a:solidFill>
                  <a:srgbClr val="3A3A3A"/>
                </a:solidFill>
                <a:latin typeface="Roboto Condensed"/>
              </a:rPr>
              <a:t>Fuente: claveunica.gob.cl · Gobierno Digital, Segpres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14</a:t>
            </a:r>
            <a:endParaRPr lang="en-US"/>
          </a:p>
        </p:txBody>
      </p:sp>
      <p:sp>
        <p:nvSpPr>
          <p:cNvPr id="253" name="Oval 252"/>
          <p:cNvSpPr/>
          <p:nvPr/>
        </p:nvSpPr>
        <p:spPr>
          <a:xfrm>
            <a:off x="8200000" y="2200000"/>
            <a:ext cx="900000" cy="90000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8050000" y="2950000"/>
            <a:ext cx="1200000" cy="1100000"/>
          </a:xfrm>
          <a:prstGeom prst="roundRect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7850000" y="4250000"/>
            <a:ext cx="16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E2841"/>
                </a:solidFill>
                <a:latin typeface="Roboto Condensed"/>
              </a:rPr>
              <a:t>ClaveÚnica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850000" y="4520000"/>
            <a:ext cx="160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A3A3A"/>
                </a:solidFill>
                <a:latin typeface="Roboto Condensed"/>
              </a:rPr>
              <a:t>Identidad digital
del Estado de Chile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450000" y="5050000"/>
            <a:ext cx="20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A3A3A"/>
                </a:solidFill>
                <a:latin typeface="Roboto Condensed"/>
              </a:rPr>
              <a:t>Referencial: acceso único a trámites del Estado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2. Inteligencia Artificial en la transformación digital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3A3A3A"/>
                </a:solidFill>
                <a:latin typeface="Roboto Condensed Medium"/>
              </a:rPr>
              <a:t>De registrar información a interpretar, anticipar y decidir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15</a:t>
            </a:r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El salto cualitativo que aporta la IA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6300000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Primeras etapas de digitalización: informatizar procesos, reemplazar papel, automatizar tareas simples</a:t>
            </a:r>
            <a:endParaRPr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Con IA los sistemas dejan de operar solo con instrucciones rígidas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– Identifican patrones, reconocen anomalías, clasifican información, proyectan comportamientos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– Aprenden a partir de nuevos 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Clave ante volúmenes de información que superan la capacidad humana de análisis manual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16</a:t>
            </a:r>
            <a:endParaRPr lang="en-US"/>
          </a:p>
        </p:txBody>
      </p:sp>
      <p:cxnSp>
        <p:nvCxnSpPr>
          <p:cNvPr id="253" name="Connector 252"/>
          <p:cNvCxnSpPr/>
          <p:nvPr/>
        </p:nvCxnSpPr>
        <p:spPr>
          <a:xfrm flipV="1">
            <a:off x="7920000" y="2370000"/>
            <a:ext cx="1100000" cy="22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7920000" y="2590000"/>
            <a:ext cx="1100000" cy="30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7920000" y="2590000"/>
            <a:ext cx="1100000" cy="82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7920000" y="2590000"/>
            <a:ext cx="1100000" cy="134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7920000" y="2370000"/>
            <a:ext cx="1100000" cy="74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7920000" y="2890000"/>
            <a:ext cx="1100000" cy="22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7920000" y="3110000"/>
            <a:ext cx="1100000" cy="30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7920000" y="3110000"/>
            <a:ext cx="1100000" cy="82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7920000" y="2370000"/>
            <a:ext cx="1100000" cy="126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7920000" y="2890000"/>
            <a:ext cx="1100000" cy="74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7920000" y="3410000"/>
            <a:ext cx="1100000" cy="22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7920000" y="3630000"/>
            <a:ext cx="1100000" cy="30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9020000" y="2370000"/>
            <a:ext cx="1100000" cy="44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9020000" y="2370000"/>
            <a:ext cx="1100000" cy="96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9020000" y="2810000"/>
            <a:ext cx="1100000" cy="8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9020000" y="2890000"/>
            <a:ext cx="1100000" cy="44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9020000" y="2810000"/>
            <a:ext cx="1100000" cy="60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9020000" y="3330000"/>
            <a:ext cx="1100000" cy="8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9020000" y="2810000"/>
            <a:ext cx="1100000" cy="112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9020000" y="3330000"/>
            <a:ext cx="1100000" cy="600000"/>
          </a:xfrm>
          <a:prstGeom prst="line">
            <a:avLst/>
          </a:prstGeom>
          <a:ln w="6350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Oval 272"/>
          <p:cNvSpPr/>
          <p:nvPr/>
        </p:nvSpPr>
        <p:spPr>
          <a:xfrm>
            <a:off x="7700000" y="2370000"/>
            <a:ext cx="440000" cy="4400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7700000" y="2890000"/>
            <a:ext cx="440000" cy="4400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7700000" y="3410000"/>
            <a:ext cx="440000" cy="4400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8800000" y="2150000"/>
            <a:ext cx="440000" cy="4400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8800000" y="2670000"/>
            <a:ext cx="440000" cy="4400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8800000" y="3190000"/>
            <a:ext cx="440000" cy="4400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8800000" y="3710000"/>
            <a:ext cx="440000" cy="4400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9900000" y="2590000"/>
            <a:ext cx="440000" cy="4400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9900000" y="3110000"/>
            <a:ext cx="440000" cy="440000"/>
          </a:xfrm>
          <a:prstGeom prst="ellipse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7500000" y="4650000"/>
            <a:ext cx="32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A3A3A"/>
                </a:solidFill>
                <a:latin typeface="Roboto Condensed"/>
              </a:rPr>
              <a:t>Referencial: red neuronal artificial (capas de entrada, ocultas y salida)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IA en la empresa: datos dispersos → conocimiento útil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Retail: modelos predictivos de demanda según temporada, ubicación, historial y clima</a:t>
            </a:r>
            <a:endParaRPr dirty="0"/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3A3A3A"/>
                </a:solidFill>
                <a:latin typeface="Roboto Condensed"/>
              </a:rPr>
              <a:t>– Ajustar inventarios, reducir quiebres de stock, promociones más precisas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Transporte y logística: análisis de rutas, tráfico, costos y flota para recorridos eficientes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La IA no solo automatiza: mejora la calidad de la decisión y reduce la incertidumbre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Permite responder con mayor velocidad a los cambios del entorno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17</a:t>
            </a:r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IA en el sector público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Municipalidad: identificar zonas con más reclamos, priorizar mantención urbana, anticipar demanda social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Salud: predecir listas de espera, detectar riesgos epidemiológicos, asignar recursos clínicos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Fiscalización: detectar patrones anómalos en declaraciones, contratos, licitaciones y permisos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La finalidad no es la utilidad: es oportunidad, equidad, transparencia y eficiencia de la acción pública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18</a:t>
            </a:r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IA y capacidades dinámicas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Capacidades dinámicas: detectar amenazas y oportunidades, movilizar recursos, reconfigurar la organización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Empresa que detecta temprano cambios de consumo ajusta su oferta antes que la competencia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Organismo público que anticipa demanda de beneficios refuerza canales y evita colapsos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Condición: la IA debe estar vinculada a la estrategia de gestión, no ser una herramienta aislada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19</a:t>
            </a:r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Adopción: tecnología, personas y procesos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Un sistema inteligente no garantiza resultados por sí solo</a:t>
            </a:r>
            <a:endParaRPr dirty="0"/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3A3A3A"/>
                </a:solidFill>
                <a:latin typeface="Roboto Condensed"/>
              </a:rPr>
              <a:t>– Depende de la calidad de los datos, claridad de objetivos y preparación de los equipos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Ej. chatbot: reduce esperas, pero si no deriva casos complejos deteriora la experiencia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Marcos de aceptación tecnológica (TAM, UTAUT): utilidad percibida, facilidad de uso, confianza, influencia social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La IA debe incorporarse como rediseño integral del servicio: flujo tecnológico + experiencia humana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20</a:t>
            </a:r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3. El Internet de las Cosas (IoT)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3A3A3A"/>
                </a:solidFill>
                <a:latin typeface="Roboto Condensed Medium"/>
              </a:rPr>
              <a:t>Conectar el mundo físico con los sistemas digitales de gestión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21</a:t>
            </a:r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¿Qué es el IoT?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6300000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Genera información directamente desde objetos: máquinas, edificios, vehículos, espacios urbanos, redes de suministro</a:t>
            </a:r>
            <a:endParaRPr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Sensores, microcontroladores, actuadores y dispositivos conectados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– Miden temperatura, movimiento, presión, consumo, humedad, ubicación, vibración, calidad del aire…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La organización pasa de reportes humanos a flujos continuos de datos sobre sus operaciones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22</a:t>
            </a:r>
            <a:endParaRPr lang="en-US"/>
          </a:p>
        </p:txBody>
      </p:sp>
      <p:sp>
        <p:nvSpPr>
          <p:cNvPr id="253" name="Oval 252"/>
          <p:cNvSpPr/>
          <p:nvPr/>
        </p:nvSpPr>
        <p:spPr>
          <a:xfrm>
            <a:off x="8850000" y="3100000"/>
            <a:ext cx="1000000" cy="700000"/>
          </a:xfrm>
          <a:prstGeom prst="ellipse">
            <a:avLst/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  <a:latin typeface="Roboto Condensed"/>
              </a:rPr>
              <a:t>Nube /
plataforma</a:t>
            </a:r>
          </a:p>
        </p:txBody>
      </p:sp>
      <p:cxnSp>
        <p:nvCxnSpPr>
          <p:cNvPr id="254" name="Connector 253"/>
          <p:cNvCxnSpPr/>
          <p:nvPr/>
        </p:nvCxnSpPr>
        <p:spPr>
          <a:xfrm flipH="1" flipV="1">
            <a:off x="8050000" y="2500000"/>
            <a:ext cx="1300000" cy="950000"/>
          </a:xfrm>
          <a:prstGeom prst="line">
            <a:avLst/>
          </a:prstGeom>
          <a:ln w="12700"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Rounded Rectangle 254"/>
          <p:cNvSpPr/>
          <p:nvPr/>
        </p:nvSpPr>
        <p:spPr>
          <a:xfrm>
            <a:off x="7650000" y="2200000"/>
            <a:ext cx="800000" cy="60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0E2841"/>
                </a:solidFill>
                <a:latin typeface="Roboto Condensed"/>
              </a:rPr>
              <a:t>Sensores</a:t>
            </a:r>
          </a:p>
        </p:txBody>
      </p:sp>
      <p:cxnSp>
        <p:nvCxnSpPr>
          <p:cNvPr id="256" name="Connector 255"/>
          <p:cNvCxnSpPr/>
          <p:nvPr/>
        </p:nvCxnSpPr>
        <p:spPr>
          <a:xfrm flipV="1">
            <a:off x="9350000" y="2500000"/>
            <a:ext cx="1100000" cy="950000"/>
          </a:xfrm>
          <a:prstGeom prst="line">
            <a:avLst/>
          </a:prstGeom>
          <a:ln w="12700"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7" name="Rounded Rectangle 256"/>
          <p:cNvSpPr/>
          <p:nvPr/>
        </p:nvSpPr>
        <p:spPr>
          <a:xfrm>
            <a:off x="10050000" y="2200000"/>
            <a:ext cx="800000" cy="60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0E2841"/>
                </a:solidFill>
                <a:latin typeface="Roboto Condensed"/>
              </a:rPr>
              <a:t>Cámaras</a:t>
            </a:r>
          </a:p>
        </p:txBody>
      </p:sp>
      <p:cxnSp>
        <p:nvCxnSpPr>
          <p:cNvPr id="258" name="Connector 257"/>
          <p:cNvCxnSpPr/>
          <p:nvPr/>
        </p:nvCxnSpPr>
        <p:spPr>
          <a:xfrm flipH="1">
            <a:off x="8050000" y="3450000"/>
            <a:ext cx="1300000" cy="1050000"/>
          </a:xfrm>
          <a:prstGeom prst="line">
            <a:avLst/>
          </a:prstGeom>
          <a:ln w="12700"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Rounded Rectangle 258"/>
          <p:cNvSpPr/>
          <p:nvPr/>
        </p:nvSpPr>
        <p:spPr>
          <a:xfrm>
            <a:off x="7650000" y="4200000"/>
            <a:ext cx="800000" cy="60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0E2841"/>
                </a:solidFill>
                <a:latin typeface="Roboto Condensed"/>
              </a:rPr>
              <a:t>Medidores</a:t>
            </a:r>
          </a:p>
        </p:txBody>
      </p:sp>
      <p:cxnSp>
        <p:nvCxnSpPr>
          <p:cNvPr id="260" name="Connector 259"/>
          <p:cNvCxnSpPr/>
          <p:nvPr/>
        </p:nvCxnSpPr>
        <p:spPr>
          <a:xfrm>
            <a:off x="9350000" y="3450000"/>
            <a:ext cx="1100000" cy="1050000"/>
          </a:xfrm>
          <a:prstGeom prst="line">
            <a:avLst/>
          </a:prstGeom>
          <a:ln w="12700"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ounded Rectangle 260"/>
          <p:cNvSpPr/>
          <p:nvPr/>
        </p:nvSpPr>
        <p:spPr>
          <a:xfrm>
            <a:off x="10050000" y="4200000"/>
            <a:ext cx="800000" cy="600000"/>
          </a:xfrm>
          <a:prstGeom prst="roundRect">
            <a:avLst/>
          </a:prstGeom>
          <a:solidFill>
            <a:srgbClr val="0F9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0E2841"/>
                </a:solidFill>
                <a:latin typeface="Roboto Condensed"/>
              </a:rPr>
              <a:t>Wearables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7450000" y="4950000"/>
            <a:ext cx="3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A3A3A"/>
                </a:solidFill>
                <a:latin typeface="Roboto Condensed"/>
              </a:rPr>
              <a:t>Referencial: dispositivos conectados a una plataforma central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Aplicaciones del IoT en empresa y Estado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Manufactura: sensores detectan vibraciones o temperaturas anómalas → mantención preventiva, menos tiempos muertos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Logística: ubicación de vehículos, estado de la carga, cadena de frío, cumplimiento de rutas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Municipalidad: luminarias, contenedores de basura, consumo de agua, tránsito, condiciones ambientales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Sanitarias: detección de fugas, control de presión, anticipación de cortes de suministro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La digitalización se convierte en capacidad de observación continua del territorio y los servicios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23</a:t>
            </a:r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De IoT a AIoT: inteligencia en el borde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El valor no está en conectar dispositivos sino en convertir datos en decisiones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Millones de dispositivos en tiempo real: problemas de almacenamiento, costos, saturación de redes y privacidad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AIoT: los dispositivos procesan, reconocen patrones y ejecutan modelos donde se generan los datos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3A3A3A"/>
                </a:solidFill>
                <a:latin typeface="Roboto Condensed"/>
              </a:rPr>
              <a:t>– Cámara que detecta riesgo sin enviar todo el video a la nube</a:t>
            </a:r>
          </a:p>
          <a:p>
            <a:pPr lvl="1">
              <a:spcAft>
                <a:spcPts val="400"/>
              </a:spcAft>
            </a:pPr>
            <a:r>
              <a:rPr sz="1800">
                <a:solidFill>
                  <a:srgbClr val="3A3A3A"/>
                </a:solidFill>
                <a:latin typeface="Roboto Condensed"/>
              </a:rPr>
              <a:t>– Riego agrícola que ajusta el agua según humedad, temperatura y pronóstico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Evolución de la gestión: de operación reactiva → predictiva → autónoma (supervisada)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24</a:t>
            </a:r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Caso: John Deere y la Agricultura 4.0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6300000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De fabricante de maquinaria agrícola pesada a plataforma tecnológica intensiva en datos</a:t>
            </a:r>
            <a:endParaRPr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Presión: producir más alimentos sin expandir suelo ni intensificar agua, fertilizantes y químicos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Agricultura 4.0: sensores + conectividad + analítica + IA + automatización integrados en la maquinaria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El tractor deja de ser solo un equipo mecánico: captura información y apoya decisiones agronómicas de precisión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25</a:t>
            </a:r>
            <a:endParaRPr lang="en-US"/>
          </a:p>
        </p:txBody>
      </p:sp>
      <p:sp>
        <p:nvSpPr>
          <p:cNvPr id="253" name="Rounded Rectangle 252"/>
          <p:cNvSpPr/>
          <p:nvPr/>
        </p:nvSpPr>
        <p:spPr>
          <a:xfrm>
            <a:off x="7900000" y="3000000"/>
            <a:ext cx="1600000" cy="700000"/>
          </a:xfrm>
          <a:prstGeom prst="round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8900000" y="2600000"/>
            <a:ext cx="700000" cy="700000"/>
          </a:xfrm>
          <a:prstGeom prst="round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7850000" y="3600000"/>
            <a:ext cx="500000" cy="500000"/>
          </a:xfrm>
          <a:prstGeom prst="ellipse">
            <a:avLst/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9250000" y="3600000"/>
            <a:ext cx="700000" cy="700000"/>
          </a:xfrm>
          <a:prstGeom prst="ellipse">
            <a:avLst/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8100000" y="2250000"/>
            <a:ext cx="160000" cy="16000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258" name="Connector 257"/>
          <p:cNvCxnSpPr/>
          <p:nvPr/>
        </p:nvCxnSpPr>
        <p:spPr>
          <a:xfrm>
            <a:off x="8180000" y="2410000"/>
            <a:ext cx="0" cy="240000"/>
          </a:xfrm>
          <a:prstGeom prst="line">
            <a:avLst/>
          </a:prstGeom>
          <a:ln w="12700">
            <a:solidFill>
              <a:srgbClr val="E971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" name="Oval 258"/>
          <p:cNvSpPr/>
          <p:nvPr/>
        </p:nvSpPr>
        <p:spPr>
          <a:xfrm>
            <a:off x="8500000" y="2250000"/>
            <a:ext cx="160000" cy="16000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260" name="Connector 259"/>
          <p:cNvCxnSpPr/>
          <p:nvPr/>
        </p:nvCxnSpPr>
        <p:spPr>
          <a:xfrm>
            <a:off x="8580000" y="2410000"/>
            <a:ext cx="0" cy="240000"/>
          </a:xfrm>
          <a:prstGeom prst="line">
            <a:avLst/>
          </a:prstGeom>
          <a:ln w="12700">
            <a:solidFill>
              <a:srgbClr val="E971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Oval 260"/>
          <p:cNvSpPr/>
          <p:nvPr/>
        </p:nvSpPr>
        <p:spPr>
          <a:xfrm>
            <a:off x="8900000" y="2250000"/>
            <a:ext cx="160000" cy="160000"/>
          </a:xfrm>
          <a:prstGeom prst="ellipse">
            <a:avLst/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262" name="Connector 261"/>
          <p:cNvCxnSpPr/>
          <p:nvPr/>
        </p:nvCxnSpPr>
        <p:spPr>
          <a:xfrm>
            <a:off x="8980000" y="2410000"/>
            <a:ext cx="0" cy="240000"/>
          </a:xfrm>
          <a:prstGeom prst="line">
            <a:avLst/>
          </a:prstGeom>
          <a:ln w="12700">
            <a:solidFill>
              <a:srgbClr val="E971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TextBox 262"/>
          <p:cNvSpPr txBox="1"/>
          <p:nvPr/>
        </p:nvSpPr>
        <p:spPr>
          <a:xfrm>
            <a:off x="7600000" y="4300000"/>
            <a:ext cx="2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A3A3A"/>
                </a:solidFill>
                <a:latin typeface="Roboto Condensed"/>
              </a:rPr>
              <a:t>Sensores + IA + Conectividad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7600000" y="4650000"/>
            <a:ext cx="26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A3A3A"/>
                </a:solidFill>
                <a:latin typeface="Roboto Condensed"/>
              </a:rPr>
              <a:t>Referencial: maquinaria agrícola conectada (Agricultura 4.0)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John Deere: del producto físico al servicio inteligente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Ya no vende solo máquinas: ofrece un ecosistema de gestión agrícola basado en datos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El agricultor recibe información de suelo, calidad de siembra, rendimiento esperado, insumos y mantenimiento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El valor se produce tanto por la capacidad mecánica como por las decisiones que la información permite mejorar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Lección: la transformación digital puede modificar la propuesta de valor de la empresa completa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Discusión: ¿qué producto o servicio de su organización podría 'sensorizarse'?</a:t>
            </a:r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– Mecánica: respondan en el chat (3 min); comentaremos 2–3 respuestas antes de continuar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200" i="1">
                <a:solidFill>
                  <a:srgbClr val="3A3A3A"/>
                </a:solidFill>
                <a:latin typeface="Roboto Condensed"/>
              </a:rPr>
              <a:t>Fuente: John Deere — Precision Ag; presentación CES 2023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26</a:t>
            </a:r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4. Blockchain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3A3A3A"/>
                </a:solidFill>
                <a:latin typeface="Roboto Condensed Medium"/>
              </a:rPr>
              <a:t>Tecnología para generar y verificar confianza entre múltiples actores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27</a:t>
            </a:r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¿Qué problema resuelve Blockchain?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6300000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En procesos con múltiples actores el problema persistente es: ¿qué información es válida y quién la modificó?</a:t>
            </a:r>
            <a:endParaRPr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Libro mayor distribuido: registros compartidos, verificables y protegidos criptográficamente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Permite coordinar operaciones entre actores que no confían entre sí, sin una autoridad central de validación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Cada bloque se encadena criptográficamente al anterior: alterar un registro rompe la coherencia de la cadena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Inmutabilidad práctica → trazabilidad, auditoría, transparencia y control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28</a:t>
            </a:r>
            <a:endParaRPr lang="en-US"/>
          </a:p>
        </p:txBody>
      </p:sp>
      <p:sp>
        <p:nvSpPr>
          <p:cNvPr id="253" name="Rounded Rectangle 252"/>
          <p:cNvSpPr/>
          <p:nvPr/>
        </p:nvSpPr>
        <p:spPr>
          <a:xfrm>
            <a:off x="7600000" y="2600000"/>
            <a:ext cx="750000" cy="750000"/>
          </a:xfrm>
          <a:prstGeom prst="roundRect">
            <a:avLst/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FFFFFF"/>
                </a:solidFill>
                <a:latin typeface="Roboto Condensed"/>
              </a:rPr>
              <a:t>Bloque 1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8610000" y="2600000"/>
            <a:ext cx="750000" cy="750000"/>
          </a:xfrm>
          <a:prstGeom prst="roundRect">
            <a:avLst/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FFFFFF"/>
                </a:solidFill>
                <a:latin typeface="Roboto Condensed"/>
              </a:rPr>
              <a:t>Bloque 2</a:t>
            </a:r>
          </a:p>
        </p:txBody>
      </p:sp>
      <p:cxnSp>
        <p:nvCxnSpPr>
          <p:cNvPr id="255" name="Connector 254"/>
          <p:cNvCxnSpPr/>
          <p:nvPr/>
        </p:nvCxnSpPr>
        <p:spPr>
          <a:xfrm>
            <a:off x="8350000" y="2975000"/>
            <a:ext cx="260000" cy="0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9620000" y="2600000"/>
            <a:ext cx="750000" cy="750000"/>
          </a:xfrm>
          <a:prstGeom prst="roundRect">
            <a:avLst/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FFFFFF"/>
                </a:solidFill>
                <a:latin typeface="Roboto Condensed"/>
              </a:rPr>
              <a:t>Bloque 3</a:t>
            </a:r>
          </a:p>
        </p:txBody>
      </p:sp>
      <p:cxnSp>
        <p:nvCxnSpPr>
          <p:cNvPr id="257" name="Connector 256"/>
          <p:cNvCxnSpPr/>
          <p:nvPr/>
        </p:nvCxnSpPr>
        <p:spPr>
          <a:xfrm>
            <a:off x="9360000" y="2975000"/>
            <a:ext cx="260000" cy="0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10630000" y="2600000"/>
            <a:ext cx="750000" cy="750000"/>
          </a:xfrm>
          <a:prstGeom prst="roundRect">
            <a:avLst/>
          </a:prstGeom>
          <a:solidFill>
            <a:srgbClr val="0E2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FFFFFF"/>
                </a:solidFill>
                <a:latin typeface="Roboto Condensed"/>
              </a:rPr>
              <a:t>Bloque 4</a:t>
            </a:r>
          </a:p>
        </p:txBody>
      </p:sp>
      <p:cxnSp>
        <p:nvCxnSpPr>
          <p:cNvPr id="259" name="Connector 258"/>
          <p:cNvCxnSpPr/>
          <p:nvPr/>
        </p:nvCxnSpPr>
        <p:spPr>
          <a:xfrm>
            <a:off x="10370000" y="2975000"/>
            <a:ext cx="260000" cy="0"/>
          </a:xfrm>
          <a:prstGeom prst="line">
            <a:avLst/>
          </a:prstGeom>
          <a:ln w="19050">
            <a:solidFill>
              <a:srgbClr val="E971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TextBox 259"/>
          <p:cNvSpPr txBox="1"/>
          <p:nvPr/>
        </p:nvSpPr>
        <p:spPr>
          <a:xfrm>
            <a:off x="7600000" y="3650000"/>
            <a:ext cx="3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A3A3A"/>
                </a:solidFill>
                <a:latin typeface="Roboto Condensed"/>
              </a:rPr>
              <a:t>Referencial: cada bloque se encadena criptográficamente al anterior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Lectura desde la gestión: costos de transacción e información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Las organizaciones gastan tiempo y recursos verificando documentos, firmas, certificados y registros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Costos de transacción: negociar, supervisar, verificar entregas, resolver controversias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Blockchain reduce verificaciones repetidas cuando las partes comparten un registro común y validado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Reduce asimetrías de información: todas las partes autorizadas consultan la misma versión de los hechos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No elimina los controles: disminuye la fricción y fortalece la rendición de cuentas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29</a:t>
            </a:r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Caso: trazabilidad alimentaria antes de Blockchain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Cadena alimentaria: agricultores, acopios, procesadores, transportistas, distribuidores, supermercados, fiscalizadores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Información fragmentada en sistemas separados, planillas, documentos físicos y certificados independientes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Ante un brote (Salmonella, E. coli), rastrear el origen podía tardar días o semanas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Consecuencia: retiros masivos que destruían alimentos seguros, pérdidas y desconfianza del consumidor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El problema principal no es solo sanitario: es informacional</a:t>
            </a:r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30</a:t>
            </a:r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Caso: IBM Food Trust y Walmart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6300000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• Red Blockchain (Hyperledger Fabric) que registra el recorrido del alimento entre todos los actores</a:t>
            </a:r>
            <a:endParaRPr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Pilotos de Walmart con cerdo (China) y mangos (EE.UU.): trazabilidad de días → segundos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Registro compartido de origen, lote, ruta logística, certificaciones y controles de calidad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Retiros más precisos: se aísla el lote afectado en vez de eliminar categorías completas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3A3A3A"/>
                </a:solidFill>
                <a:latin typeface="Roboto Condensed"/>
              </a:rPr>
              <a:t>• Discusión: ¿en qué procesos públicos serviría un registro inmutable compartido? (compras, permisos, subsidios)</a:t>
            </a:r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>
                <a:solidFill>
                  <a:srgbClr val="3A3A3A"/>
                </a:solidFill>
                <a:latin typeface="Roboto Condensed"/>
              </a:rPr>
              <a:t>– Mecánica: respondan en el chat (3 min); comentaremos 2–3 respuestas antes de continuar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i="1">
                <a:solidFill>
                  <a:srgbClr val="3A3A3A"/>
                </a:solidFill>
                <a:latin typeface="Roboto Condensed"/>
              </a:rPr>
              <a:t>Fuente: IBM Food Trust · Hyperledger Foundation, caso Walmart (2018)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31</a:t>
            </a:r>
            <a:endParaRPr lang="en-US"/>
          </a:p>
        </p:txBody>
      </p:sp>
      <p:sp>
        <p:nvSpPr>
          <p:cNvPr id="253" name="Rounded Rectangle 252"/>
          <p:cNvSpPr/>
          <p:nvPr/>
        </p:nvSpPr>
        <p:spPr>
          <a:xfrm>
            <a:off x="7550000" y="2500000"/>
            <a:ext cx="780000" cy="60000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FFFFFF"/>
                </a:solidFill>
                <a:latin typeface="Roboto Condensed"/>
              </a:rPr>
              <a:t>Granja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8510000" y="2500000"/>
            <a:ext cx="780000" cy="60000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FFFFFF"/>
                </a:solidFill>
                <a:latin typeface="Roboto Condensed"/>
              </a:rPr>
              <a:t>Planta</a:t>
            </a:r>
          </a:p>
        </p:txBody>
      </p:sp>
      <p:cxnSp>
        <p:nvCxnSpPr>
          <p:cNvPr id="255" name="Connector 254"/>
          <p:cNvCxnSpPr/>
          <p:nvPr/>
        </p:nvCxnSpPr>
        <p:spPr>
          <a:xfrm>
            <a:off x="8330000" y="2800000"/>
            <a:ext cx="180000" cy="0"/>
          </a:xfrm>
          <a:prstGeom prst="line">
            <a:avLst/>
          </a:prstGeom>
          <a:ln w="1524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9470000" y="2500000"/>
            <a:ext cx="780000" cy="60000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FFFFFF"/>
                </a:solidFill>
                <a:latin typeface="Roboto Condensed"/>
              </a:rPr>
              <a:t>Transporte</a:t>
            </a:r>
          </a:p>
        </p:txBody>
      </p:sp>
      <p:cxnSp>
        <p:nvCxnSpPr>
          <p:cNvPr id="257" name="Connector 256"/>
          <p:cNvCxnSpPr/>
          <p:nvPr/>
        </p:nvCxnSpPr>
        <p:spPr>
          <a:xfrm>
            <a:off x="9290000" y="2800000"/>
            <a:ext cx="180000" cy="0"/>
          </a:xfrm>
          <a:prstGeom prst="line">
            <a:avLst/>
          </a:prstGeom>
          <a:ln w="1524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10430000" y="2500000"/>
            <a:ext cx="780000" cy="60000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900" b="1">
                <a:solidFill>
                  <a:srgbClr val="FFFFFF"/>
                </a:solidFill>
                <a:latin typeface="Roboto Condensed"/>
              </a:rPr>
              <a:t>Tienda</a:t>
            </a:r>
          </a:p>
        </p:txBody>
      </p:sp>
      <p:cxnSp>
        <p:nvCxnSpPr>
          <p:cNvPr id="259" name="Connector 258"/>
          <p:cNvCxnSpPr/>
          <p:nvPr/>
        </p:nvCxnSpPr>
        <p:spPr>
          <a:xfrm>
            <a:off x="10250000" y="2800000"/>
            <a:ext cx="180000" cy="0"/>
          </a:xfrm>
          <a:prstGeom prst="line">
            <a:avLst/>
          </a:prstGeom>
          <a:ln w="1524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7550000" y="2250000"/>
            <a:ext cx="3480000" cy="0"/>
          </a:xfrm>
          <a:prstGeom prst="line">
            <a:avLst/>
          </a:prstGeom>
          <a:ln w="25400">
            <a:solidFill>
              <a:srgbClr val="E971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TextBox 260"/>
          <p:cNvSpPr txBox="1"/>
          <p:nvPr/>
        </p:nvSpPr>
        <p:spPr>
          <a:xfrm>
            <a:off x="7550000" y="1950000"/>
            <a:ext cx="340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E97132"/>
                </a:solidFill>
                <a:latin typeface="Roboto Condensed"/>
              </a:rPr>
              <a:t>Registro compartido (blockchain)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7550000" y="3450000"/>
            <a:ext cx="34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A3A3A"/>
                </a:solidFill>
                <a:latin typeface="Roboto Condensed"/>
              </a:rPr>
              <a:t>Referencial: trazabilidad de origen a punto de venta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Ética, privacidad y normativa: el hilo transversal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Interoperabilidad estatal = datos personales circulando entre organismos: exige base legal y proporcionalidad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Chile: de la Ley 19.628 a la Ley 21.719 (2024) — consentimiento, finalidad, derechos ARCO, sanciones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Decisiones automatizadas (fiscalización, subsidios, crédito): deben ser explicables, revisables y reclamables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Estándares de gestión: ISO/IEC 27001 (seguridad de la información) e ISO/IEC 42001 (gestión de IA)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Sesgos: un modelo entrenado con datos históricos puede reproducir discriminaciones existentes</a:t>
            </a:r>
            <a:endParaRPr dirty="0"/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Mensaje del diplomado: la IA no reemplaza el criterio humano ni la responsabilidad institucional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32</a:t>
            </a:r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0" name="Google Shape;240;p38"/>
          <p:cNvSpPr/>
          <p:nvPr/>
        </p:nvSpPr>
        <p:spPr>
          <a:xfrm>
            <a:off x="853440" y="790892"/>
            <a:ext cx="90551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>
                <a:solidFill>
                  <a:srgbClr val="3A3A3A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Síntesis de la Clase 1</a:t>
            </a:r>
            <a:endParaRPr dirty="0"/>
          </a:p>
        </p:txBody>
      </p:sp>
      <p:sp>
        <p:nvSpPr>
          <p:cNvPr id="241" name="Google Shape;241;p38"/>
          <p:cNvSpPr/>
          <p:nvPr/>
        </p:nvSpPr>
        <p:spPr>
          <a:xfrm>
            <a:off x="889446" y="2014379"/>
            <a:ext cx="9385264" cy="3413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La transformación digital responde a lógicas distintas en lo público (valor público) y lo privado (competitividad)</a:t>
            </a:r>
            <a:endParaRPr dirty="0"/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La IA convierte datos en capacidad de anticipación y decisión, si está ligada a la estrategia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El IoT/AIoT conecta el mundo físico con la gestión: de operación reactiva a predictiva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Blockchain aborda el problema de la confianza y la verificación entre múltiples actores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A3A3A"/>
                </a:solidFill>
                <a:latin typeface="Roboto Condensed"/>
              </a:rPr>
              <a:t>• Próxima clase (14 jul): Big Data y BI, Cloud Computing, Automatización y Robótica, Ciberseguridad</a:t>
            </a:r>
          </a:p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2000">
                <a:solidFill>
                  <a:srgbClr val="3A3A3A"/>
                </a:solidFill>
                <a:latin typeface="Roboto Condensed"/>
              </a:rPr>
              <a:t>• Material descargable: guía de casos con fuentes y enlaces originales, disponible en el aula virtual</a:t>
            </a:r>
            <a:endParaRPr dirty="0"/>
          </a:p>
        </p:txBody>
      </p:sp>
      <p:pic>
        <p:nvPicPr>
          <p:cNvPr id="252" name="Google Shape;25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0580" y="230187"/>
            <a:ext cx="1866726" cy="5900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Marcador de número de diapositiva 2">
            <a:extLst>
              <a:ext uri="{FF2B5EF4-FFF2-40B4-BE49-F238E27FC236}">
                <a16:creationId xmlns:a16="http://schemas.microsoft.com/office/drawing/2014/main" id="{9E2EBC40-EC40-BDF2-F68A-0BA88B712A11}"/>
              </a:ext>
            </a:extLst>
          </p:cNvPr>
          <p:cNvSpPr txBox="1">
            <a:spLocks/>
          </p:cNvSpPr>
          <p:nvPr/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/>
            <a:r>
              <a:t>33</a:t>
            </a:r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1" name="Google Shape;841;p7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28923" y="1548467"/>
            <a:ext cx="1554222" cy="3584512"/>
          </a:xfrm>
          <a:prstGeom prst="rect">
            <a:avLst/>
          </a:prstGeom>
          <a:noFill/>
          <a:ln>
            <a:noFill/>
          </a:ln>
        </p:spPr>
      </p:pic>
      <p:sp>
        <p:nvSpPr>
          <p:cNvPr id="842" name="Google Shape;842;p75"/>
          <p:cNvSpPr txBox="1"/>
          <p:nvPr/>
        </p:nvSpPr>
        <p:spPr>
          <a:xfrm>
            <a:off x="3067813" y="2224733"/>
            <a:ext cx="5114722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595959"/>
                </a:solidFill>
                <a:latin typeface="Roboto Condensed Medium"/>
                <a:ea typeface="Roboto Condensed Medium"/>
                <a:cs typeface="Roboto Condensed Medium"/>
                <a:sym typeface="Roboto Condensed Medium"/>
              </a:rPr>
              <a:t>TRANSFORMACIÓN DIGITAL</a:t>
            </a:r>
          </a:p>
        </p:txBody>
      </p:sp>
      <p:sp>
        <p:nvSpPr>
          <p:cNvPr id="843" name="Google Shape;843;p75"/>
          <p:cNvSpPr txBox="1"/>
          <p:nvPr/>
        </p:nvSpPr>
        <p:spPr>
          <a:xfrm>
            <a:off x="3074538" y="3078433"/>
            <a:ext cx="394680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nl-NL" sz="1200" b="0" i="0" u="none" strike="noStrike" cap="none" dirty="0">
                <a:solidFill>
                  <a:srgbClr val="595959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Ing. Diego Zamorano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nl-NL" sz="1200" b="0" i="0" u="none" strike="noStrike" cap="none" dirty="0">
                <a:solidFill>
                  <a:srgbClr val="595959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diego.zamorano.p@mail.pucv.cl</a:t>
            </a:r>
          </a:p>
        </p:txBody>
      </p:sp>
      <p:sp>
        <p:nvSpPr>
          <p:cNvPr id="844" name="Google Shape;844;p75"/>
          <p:cNvSpPr txBox="1"/>
          <p:nvPr/>
        </p:nvSpPr>
        <p:spPr>
          <a:xfrm>
            <a:off x="3067812" y="4005613"/>
            <a:ext cx="46560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595959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© 2026 Escuela de Comercio PUCV. </a:t>
            </a:r>
            <a:endParaRPr sz="1400" b="0" i="0" u="none" strike="noStrike" cap="none">
              <a:solidFill>
                <a:srgbClr val="000000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595959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Todos los derechos reservados. </a:t>
            </a:r>
            <a:endParaRPr sz="1400" b="0" i="0" u="none" strike="noStrike" cap="none">
              <a:solidFill>
                <a:srgbClr val="000000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595959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Queda estrictamente prohibida la reproducción, distribución o utilización de estas diapositivas sin la autorización expresa y por escrito del autor.</a:t>
            </a:r>
            <a:endParaRPr sz="1400" b="0" i="0" u="none" strike="noStrike" cap="none">
              <a:solidFill>
                <a:srgbClr val="000000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595959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Disclaimer: En esta presentación podría existir material generado por inteligencia artificial.</a:t>
            </a:r>
            <a:endParaRPr sz="1400" b="0" i="0" u="none" strike="noStrike" cap="none">
              <a:solidFill>
                <a:srgbClr val="000000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845" name="Google Shape;845;p75"/>
          <p:cNvSpPr txBox="1"/>
          <p:nvPr/>
        </p:nvSpPr>
        <p:spPr>
          <a:xfrm>
            <a:off x="3067812" y="2036217"/>
            <a:ext cx="4892847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595959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MÓDULO 3: TRANSFORMACIÓN DIGITAL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C1DD432F-FDDC-C85E-EE66-AB84DA78302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t>34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Tema de 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 [1781730638519]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</Words>
  <Application>Microsoft Office PowerPoint</Application>
  <PresentationFormat>Panorámica</PresentationFormat>
  <Paragraphs>18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3</vt:i4>
      </vt:variant>
    </vt:vector>
  </HeadingPairs>
  <TitlesOfParts>
    <vt:vector size="10" baseType="lpstr">
      <vt:lpstr>Roboto Condensed</vt:lpstr>
      <vt:lpstr>Arial</vt:lpstr>
      <vt:lpstr>Play</vt:lpstr>
      <vt:lpstr>Roboto Condensed Medium</vt:lpstr>
      <vt:lpstr>Tema de Office</vt:lpstr>
      <vt:lpstr>Office Theme</vt:lpstr>
      <vt:lpstr>Tema de Office [1781730638519]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Angélica Barrera</cp:lastModifiedBy>
  <cp:revision>1</cp:revision>
  <dcterms:modified xsi:type="dcterms:W3CDTF">2026-06-30T13:56:07Z</dcterms:modified>
</cp:coreProperties>
</file>