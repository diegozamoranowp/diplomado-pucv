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  <p:sldMasterId id="2147483682" r:id="rId2"/>
    <p:sldMasterId id="2147483683" r:id="rId3"/>
  </p:sldMasterIdLst>
  <p:notesMasterIdLst>
    <p:notesMasterId r:id="rId7"/>
  </p:notesMasterIdLst>
  <p:sldIdLst>
    <p:sldId id="256" r:id="rId4"/>
    <p:sldId id="295" r:id="rId22"/>
    <p:sldId id="296" r:id="rId23"/>
    <p:sldId id="297" r:id="rId24"/>
    <p:sldId id="298" r:id="rId25"/>
    <p:sldId id="299" r:id="rId26"/>
    <p:sldId id="300" r:id="rId27"/>
    <p:sldId id="325" r:id="rId51"/>
    <p:sldId id="301" r:id="rId28"/>
    <p:sldId id="302" r:id="rId29"/>
    <p:sldId id="303" r:id="rId30"/>
    <p:sldId id="324" r:id="rId50"/>
    <p:sldId id="323" r:id="rId49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318" r:id="rId45"/>
    <p:sldId id="319" r:id="rId46"/>
    <p:sldId id="320" r:id="rId47"/>
    <p:sldId id="322" r:id="rId5"/>
    <p:sldId id="321" r:id="rId48"/>
    <p:sldId id="294" r:id="rId6"/>
  </p:sldIdLst>
  <p:sldSz cx="12192000" cy="6858000"/>
  <p:notesSz cx="6858000" cy="9144000"/>
  <p:embeddedFontLst>
    <p:embeddedFont>
      <p:font typeface="Play" panose="020B0604020202020204" charset="0"/>
      <p:regular r:id="rId8"/>
      <p:bold r:id="rId9"/>
    </p:embeddedFont>
    <p:embeddedFont>
      <p:font typeface="Roboto Condensed" panose="02000000000000000000" pitchFamily="2" charset="0"/>
      <p:regular r:id="rId10"/>
      <p:bold r:id="rId11"/>
      <p:italic r:id="rId12"/>
      <p:boldItalic r:id="rId13"/>
    </p:embeddedFont>
    <p:embeddedFont>
      <p:font typeface="Roboto Condensed Medium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6BE66F-247E-4150-94A5-1B4003634044}">
  <a:tblStyle styleId="{326BE66F-247E-4150-94A5-1B40036340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31.xml"/><Relationship Id="rId6" Type="http://schemas.openxmlformats.org/officeDocument/2006/relationships/slide" Target="slides/slide33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font" Target="fonts/font9.fntdata"/><Relationship Id="rId17" Type="http://schemas.openxmlformats.org/officeDocument/2006/relationships/font" Target="fonts/font10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2.xml"/><Relationship Id="rId49" Type="http://schemas.openxmlformats.org/officeDocument/2006/relationships/slide" Target="slides/slide13.xml"/><Relationship Id="rId50" Type="http://schemas.openxmlformats.org/officeDocument/2006/relationships/slide" Target="slides/slide12.xml"/><Relationship Id="rId51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27" name="Google Shape;2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9" name="Google Shape;83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body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2"/>
          <p:cNvSpPr txBox="1">
            <a:spLocks noGrp="1"/>
          </p:cNvSpPr>
          <p:nvPr>
            <p:ph type="body" idx="1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5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title"/>
          </p:nvPr>
        </p:nvSpPr>
        <p:spPr>
          <a:xfrm rot="5400000">
            <a:off x="7133432" y="1956596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4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4" name="Google Shape;184;p3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3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98" name="Google Shape;198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2" name="Google Shape;202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3" name="Google Shape;203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205" name="Google Shape;205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0" name="Google Shape;21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212" name="Google Shape;21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218" name="Google Shape;21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3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224" name="Google Shape;224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/>
              <a:t>2</a:t>
            </a:r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7"/>
          <p:cNvPicPr preferRelativeResize="0"/>
          <p:nvPr/>
        </p:nvPicPr>
        <p:blipFill rotWithShape="1">
          <a:blip r:embed="rId3">
            <a:alphaModFix/>
          </a:blip>
          <a:srcRect t="13816" b="1809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7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rgbClr val="A42921">
                  <a:alpha val="70196"/>
                </a:srgbClr>
              </a:gs>
              <a:gs pos="12000">
                <a:srgbClr val="A42921">
                  <a:alpha val="70196"/>
                </a:srgbClr>
              </a:gs>
              <a:gs pos="51000">
                <a:srgbClr val="A42921">
                  <a:alpha val="90196"/>
                </a:srgbClr>
              </a:gs>
              <a:gs pos="100000">
                <a:srgbClr val="A4292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7327" y="356346"/>
            <a:ext cx="1428487" cy="329452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7"/>
          <p:cNvSpPr txBox="1"/>
          <p:nvPr/>
        </p:nvSpPr>
        <p:spPr>
          <a:xfrm>
            <a:off x="746312" y="5923429"/>
            <a:ext cx="307638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Ing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Diego Zamorano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diego.zamorano.p@mail.pucv.cl</a:t>
            </a:r>
            <a:endParaRPr lang="en-US" sz="1400" b="0" i="0" u="none" strike="noStrike" cap="none" dirty="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3" name="Google Shape;233;p37"/>
          <p:cNvSpPr txBox="1"/>
          <p:nvPr/>
        </p:nvSpPr>
        <p:spPr>
          <a:xfrm>
            <a:off x="831257" y="2309898"/>
            <a:ext cx="87453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7200" b="0" i="0" u="none" strike="noStrike" cap="none" dirty="0" err="1">
                <a:solidFill>
                  <a:schemeClr val="lt1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Transformación digital</a:t>
            </a:r>
            <a:endParaRPr sz="1800" dirty="0"/>
          </a:p>
        </p:txBody>
      </p:sp>
      <p:sp>
        <p:nvSpPr>
          <p:cNvPr id="234" name="Google Shape;234;p37"/>
          <p:cNvSpPr txBox="1"/>
          <p:nvPr/>
        </p:nvSpPr>
        <p:spPr>
          <a:xfrm>
            <a:off x="831256" y="2002162"/>
            <a:ext cx="509759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Módulo 3 · Clase 1 · Martes 7 de julio, 19:00–21:00 h</a:t>
            </a:r>
            <a:endParaRPr sz="1400" b="0" i="0" u="none" strike="noStrike" cap="none" dirty="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6EA3A14-3C74-06F2-B702-0B97FE5C57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1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Objetivo del módulo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Analizar el proceso de transformación digital en las organizaciones, integrando inteligencia artificial con otras tecnologías emergentes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Examinar estrategias para implementar cambios digitales que mejoren la eficiencia operativa y la competitividad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Clase 1 (7 jul): digitalización, IA, IoT y Blockchain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Clase 2 (14 jul): Big Data/BI, Cloud, Automatización y Ciberseguridad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Evaluación del módulo: lunes 21 de julio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Agenda de la clase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• La digitalización en la organización pública y privada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– Caso comparativo: e-Estonia y la plataforma X-Road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– Demostración en vivo: recorrido por e-Estonia y datos abiertos del Estado de Chile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– Caso chileno: ClaveÚnica y la digitalización del Estado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• Inteligencia Artificial en la transformación digital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• El Internet de las Cosas (IoT)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– Caso de estudio: John Deere y la Agricultura 4.0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• Blockchain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– Caso de estudio: IBM Food Trust, Walmart y la cadena de suministro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3A3A3A"/>
                </a:solidFill>
                <a:latin typeface="Roboto Condensed"/>
              </a:rPr>
              <a:t>• Ética, privacidad y normativa: hilo transversal del diplomado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1. La digitalización en la organización pública y privada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3A3A3A"/>
                </a:solidFill>
                <a:latin typeface="Roboto Condensed Medium"/>
              </a:rPr>
              <a:t>Misma tecnología, incentivos y lógicas distintas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¿Qué entendemos por transformación digital?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Incorporar tecnologías digitales para mejorar procesos, servicios y capacidades de gestión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Dimensión interna: revisar procedimientos, estructuras jerárquicas, flujos de información y hábitos de trabajo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Dimensión externa: rediseñar cómo se entregan servicios y se construye confianza con clientes, usuarios y ciudadanos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No es solo tecnología: depende del entorno institucional y de los objetivos estratégicos de cada organización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Digitalización en el sector privado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Motor: competitividad, eficiencia y rentabilidad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Reducir costos de transacción, abrir canales de venta, acelerar la respuesta al cliente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Puede redefinir el modelo de negocio: de vender productos a operar plataformas de servicios y fidelización digital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Éxito medido en ROI, participación de mercado, ventas, productividad y márgenes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Ej.: logística con IA para rutas → menos combustible y mejores tiempos de entrega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Ej.: evaluación crediticia automatizada → aprobación más rápida y mejor detección de fraude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Digitalización en el sector público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Finalidad: creación de valor público, no rentabilidad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Mandatos legales: equidad, transparencia, continuidad del servicio, rendición de cuentas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El Estado debe atender a toda la población: zonas rurales, adultos mayores, distintas capacidades digitales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No basta que el trámite sea rápido: debe ser accesible, comprensible, seguro y disponible para todos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Presiones institucionales: normas administrativas, ciclos políticos, controles presupuestarios, fiscalización externa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Público vs. privado: síntesis comparativa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Misma tecnología, dos lógicas de gestión distintas: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8</a:t>
            </a:r>
            <a:endParaRPr lang="en-US"/>
          </a:p>
        </p:txBody>
      </p:sp>
      <p:graphicFrame>
        <p:nvGraphicFramePr>
          <p:cNvPr id="253" name="Table 252"/>
          <p:cNvGraphicFramePr>
            <a:graphicFrameLocks noGrp="1"/>
          </p:cNvGraphicFramePr>
          <p:nvPr/>
        </p:nvGraphicFramePr>
        <p:xfrm>
          <a:off x="889446" y="2500000"/>
          <a:ext cx="10413108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036"/>
                <a:gridCol w="3471036"/>
                <a:gridCol w="3471036"/>
              </a:tblGrid>
              <a:tr h="533333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Roboto Condensed"/>
                        </a:rPr>
                        <a:t>Dimensión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Roboto Condensed"/>
                        </a:rPr>
                        <a:t>Sector privado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Roboto Condensed"/>
                        </a:rPr>
                        <a:t>Sector público</a:t>
                      </a:r>
                    </a:p>
                  </a:txBody>
                  <a:tcPr>
                    <a:solidFill>
                      <a:srgbClr val="1F3B63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Finalidad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Rentabilidad y competitividad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Creación de valor público</a:t>
                      </a:r>
                    </a:p>
                  </a:txBody>
                  <a:tcPr/>
                </a:tc>
              </a:tr>
              <a:tr h="53333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Métrica de éxito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ROI, ventas, márgenes, participación de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Cobertura, equidad, transparencia, oportunidad</a:t>
                      </a:r>
                    </a:p>
                  </a:txBody>
                  <a:tcPr/>
                </a:tc>
              </a:tr>
              <a:tr h="53333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Usuarios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Clientes que la organización elige atender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Toda la población, sin exclusión</a:t>
                      </a:r>
                    </a:p>
                  </a:txBody>
                  <a:tcPr/>
                </a:tc>
              </a:tr>
              <a:tr h="533333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Restricciones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Mercado, competencia, accionistas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Mandatos legales, ciclos políticos, fiscalización</a:t>
                      </a:r>
                    </a:p>
                  </a:txBody>
                  <a:tcPr/>
                </a:tc>
              </a:tr>
              <a:tr h="533335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Costo de fallar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Pérdida de clientes e ingresos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A3A3A"/>
                          </a:solidFill>
                          <a:latin typeface="Roboto Condensed"/>
                        </a:rPr>
                        <a:t>Vulneración de derechos y pérdida de confianza ciudadana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¿Paliativo o solución? El riesgo de digitalizar un mal proceso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Digitalizar un mal proceso traslada al entorno virtual las mismas demoras y duplicidades del papel</a:t>
            </a:r>
            <a:endParaRPr dirty="0"/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Ej.: trámite que inicia en línea pero exige imprimir, ir a la oficina y repetir información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Una transformación bien diseñada: simplifica procedimientos, conecta bases de datos, reduce discrecionalidad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Aumenta la trazabilidad de las decisiones y mejora la experiencia ciudadana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Requiere liderazgo estratégico que sostenga el cambio más allá de una administración específica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Caso: e-Estonia, la digitalización como política de Estado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Estado pequeño que convirtió la digitalización en política nacional de largo plazo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Programa "salto del tigre" (Tiigrihüpe): conectividad, alfabetización digital, infraestructura y capacidades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Enfoque integral: identidad electrónica, interoperabilidad, seguridad de la información y simplificación normativa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Gran parte de los servicios públicos disponibles en línea de forma permanente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Salud, impuestos, educación, registro empresarial, votación electrónica, beneficios sociales</a:t>
            </a:r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 i="1">
                <a:solidFill>
                  <a:srgbClr val="3A3A3A"/>
                </a:solidFill>
                <a:latin typeface="Roboto Condensed"/>
              </a:rPr>
              <a:t>Fuente: e-Estonia Briefing Centre (e-estonia.com)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Caso: la plataforma X-Road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Plataforma de código abierto para el intercambio seguro, trazable y estandarizado de datos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Conecta instituciones públicas y actores privados autorizados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Arquitectura de confianza: cada organismo mantiene autonomía sobre sus propios datos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Evita la gran base de datos centralizada (menor riesgo ante fallas o ataques)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Principio "una sola vez": el ciudadano no repite información ante distintos organismos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Discusión: ¿qué barreras enfrentaría un modelo así en nuestro contexto?</a:t>
            </a:r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– Mecánica: respondan en el chat (3 min); comentaremos 2–3 respuestas antes de continuar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 i="1">
                <a:solidFill>
                  <a:srgbClr val="3A3A3A"/>
                </a:solidFill>
                <a:latin typeface="Roboto Condensed"/>
              </a:rPr>
              <a:t>Fuente: e-estonia.com · NIIS (x-road.global)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11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Demostración en vivo (10 min): e-Estonia y datos abiertos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Recorrido guiado por e-estonia.com: catálogo de servicios públicos digitales en operación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Visualización en vivo del tráfico del ecosistema X-Road (x-road.global)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Contraparte local: portal de datos abiertos del Estado de Chile (datos.gob.cl)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Qué observar: cuántos servicios están 100% en línea y cómo se expone la interoperabilidad al ciudadano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Plan B ante fallas de conexión: capturas preparadas de cada sitio (anexo del material descargable)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12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Caso chileno: ClaveÚnica y la digitalización del Estado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ClaveÚnica: identidad digital única para trámites del Estado — millones de usuarios activos y miles de trámites integrados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Ejemplos: Comisaría Virtual, Registro Social de Hogares, SII (operación renta masiva en línea)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Avance real, pero contraste con Estonia: interoperabilidad aún parcial entre servicios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El principio “una sola vez” no está consolidado: el ciudadano todavía repite información entre organismos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Discusión: ¿qué trámite de su organización (o que usan como ciudadanos) sigue exigiendo papel y por qué?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– Mecánica: respondan en el chat (3 min); comentaremos 2–3 respuestas antes de continuar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 i="1">
                <a:solidFill>
                  <a:srgbClr val="3A3A3A"/>
                </a:solidFill>
                <a:latin typeface="Roboto Condensed"/>
              </a:rPr>
              <a:t>Fuente: claveunica.gob.cl · Gobierno Digital, Segpres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13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2. Inteligencia Artificial en la transformación digital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3A3A3A"/>
                </a:solidFill>
                <a:latin typeface="Roboto Condensed Medium"/>
              </a:rPr>
              <a:t>De registrar información a interpretar, anticipar y decidir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14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El salto cualitativo que aporta la IA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Primeras etapas de digitalización: informatizar procesos, reemplazar papel, automatizar tareas simples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Con IA los sistemas dejan de operar solo con instrucciones rígidas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Identifican patrones, reconocen anomalías, clasifican información, proyectan comportamientos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Aprenden a partir de nuevos datos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Clave ante volúmenes de información que superan la capacidad humana de análisis manual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15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IA en la empresa: datos dispersos → conocimiento útil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Retail: modelos predictivos de demanda según temporada, ubicación, historial y clima</a:t>
            </a:r>
            <a:endParaRPr dirty="0"/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Ajustar inventarios, reducir quiebres de stock, promociones más precisas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Transporte y logística: análisis de rutas, tráfico, costos y flota para recorridos eficientes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IA no solo automatiza: mejora la calidad de la decisión y reduce la incertidumbre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Permite responder con mayor velocidad a los cambios del entorno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16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IA en el sector público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Municipalidad: identificar zonas con más reclamos, priorizar mantención urbana, anticipar demanda social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Salud: predecir listas de espera, detectar riesgos epidemiológicos, asignar recursos clínicos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Fiscalización: detectar patrones anómalos en declaraciones, contratos, licitaciones y permisos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finalidad no es la utilidad: es oportunidad, equidad, transparencia y eficiencia de la acción pública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17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IA y capacidades dinámicas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Capacidades dinámicas: detectar amenazas y oportunidades, movilizar recursos, reconfigurar la organización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Empresa que detecta temprano cambios de consumo ajusta su oferta antes que la competencia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Organismo público que anticipa demanda de beneficios refuerza canales y evita colapsos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Condición: la IA debe estar vinculada a la estrategia de gestión, no ser una herramienta aislada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18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Adopción: tecnología, personas y procesos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Un sistema inteligente no garantiza resultados por sí solo</a:t>
            </a:r>
            <a:endParaRPr dirty="0"/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Depende de la calidad de los datos, claridad de objetivos y preparación de los equipos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Ej. chatbot: reduce esperas, pero si no deriva casos complejos deteriora la experiencia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Marcos de aceptación tecnológica (TAM, UTAUT): utilidad percibida, facilidad de uso, confianza, influencia social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IA debe incorporarse como rediseño integral del servicio: flujo tecnológico + experiencia humana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19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3. El Internet de las Cosas (IoT)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3A3A3A"/>
                </a:solidFill>
                <a:latin typeface="Roboto Condensed Medium"/>
              </a:rPr>
              <a:t>Conectar el mundo físico con los sistemas digitales de gestión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20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¿Qué es el IoT?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Genera información directamente desde objetos: máquinas, edificios, vehículos, espacios urbanos, redes de suministro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Sensores, microcontroladores, actuadores y dispositivos conectados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Miden temperatura, movimiento, presión, consumo, humedad, ubicación, vibración, calidad del aire…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organización pasa de reportes humanos a flujos continuos de datos sobre sus operaciones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21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Aplicaciones del IoT en empresa y Estado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Manufactura: sensores detectan vibraciones o temperaturas anómalas → mantención preventiva, menos tiempos muertos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Logística: ubicación de vehículos, estado de la carga, cadena de frío, cumplimiento de rutas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Municipalidad: luminarias, contenedores de basura, consumo de agua, tránsito, condiciones ambientales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Sanitarias: detección de fugas, control de presión, anticipación de cortes de suministro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digitalización se convierte en capacidad de observación continua del territorio y los servicios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22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De IoT a AIoT: inteligencia en el borde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El valor no está en conectar dispositivos sino en convertir datos en decisiones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Millones de dispositivos en tiempo real: problemas de almacenamiento, costos, saturación de redes y privacidad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AIoT: los dispositivos procesan, reconocen patrones y ejecutan modelos donde se generan los datos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Cámara que detecta riesgo sin enviar todo el video a la nube</a:t>
            </a:r>
          </a:p>
          <a:p>
            <a:pPr lvl="1">
              <a:spcAft>
                <a:spcPts val="400"/>
              </a:spcAft>
            </a:pPr>
            <a:r>
              <a:rPr sz="1800">
                <a:solidFill>
                  <a:srgbClr val="3A3A3A"/>
                </a:solidFill>
                <a:latin typeface="Roboto Condensed"/>
              </a:rPr>
              <a:t>– Riego agrícola que ajusta el agua según humedad, temperatura y pronóstico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Evolución de la gestión: de operación reactiva → predictiva → autónoma (supervisada)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23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Caso: John Deere y la Agricultura 4.0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De fabricante de maquinaria agrícola pesada a plataforma tecnológica intensiva en datos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Presión: producir más alimentos sin expandir suelo ni intensificar agua, fertilizantes y químicos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Agricultura 4.0: sensores + conectividad + analítica + IA + automatización integrados en la maquinaria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El tractor deja de ser solo un equipo mecánico: captura información y apoya decisiones agronómicas de precisión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24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John Deere: del producto físico al servicio inteligente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Ya no vende solo máquinas: ofrece un ecosistema de gestión agrícola basado en datos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El agricultor recibe información de suelo, calidad de siembra, rendimiento esperado, insumos y mantenimiento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El valor se produce tanto por la capacidad mecánica como por las decisiones que la información permite mejorar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Lección: la transformación digital puede modificar la propuesta de valor de la empresa completa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Discusión: ¿qué producto o servicio de su organización podría 'sensorizarse'?</a:t>
            </a:r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– Mecánica: respondan en el chat (3 min); comentaremos 2–3 respuestas antes de continuar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 i="1">
                <a:solidFill>
                  <a:srgbClr val="3A3A3A"/>
                </a:solidFill>
                <a:latin typeface="Roboto Condensed"/>
              </a:rPr>
              <a:t>Fuente: John Deere — Precision Ag; presentación CES 2023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25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4. Blockchain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3A3A3A"/>
                </a:solidFill>
                <a:latin typeface="Roboto Condensed Medium"/>
              </a:rPr>
              <a:t>Tecnología para generar y verificar confianza entre múltiples actores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26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¿Qué problema resuelve Blockchain?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En procesos con múltiples actores el problema persistente es: ¿qué información es válida y quién la modificó?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Libro mayor distribuido: registros compartidos, verificables y protegidos criptográficamente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Permite coordinar operaciones entre actores que no confían entre sí, sin una autoridad central de validación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Cada bloque se encadena criptográficamente al anterior: alterar un registro rompe la coherencia de la cadena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Inmutabilidad práctica → trazabilidad, auditoría, transparencia y control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27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Lectura desde la gestión: costos de transacción e información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Las organizaciones gastan tiempo y recursos verificando documentos, firmas, certificados y registros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Costos de transacción: negociar, supervisar, verificar entregas, resolver controversias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Blockchain reduce verificaciones repetidas cuando las partes comparten un registro común y validado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Reduce asimetrías de información: todas las partes autorizadas consultan la misma versión de los hechos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No elimina los controles: disminuye la fricción y fortalece la rendición de cuentas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28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Caso: trazabilidad alimentaria antes de Blockchain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Cadena alimentaria: agricultores, acopios, procesadores, transportistas, distribuidores, supermercados, fiscalizadores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Información fragmentada en sistemas separados, planillas, documentos físicos y certificados independientes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Ante un brote (Salmonella, E. coli), rastrear el origen podía tardar días o semanas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Consecuencia: retiros masivos que destruían alimentos seguros, pérdidas y desconfianza del consumidor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El problema principal no es solo sanitario: es informacional</a:t>
            </a:r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29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Caso: IBM Food Trust y Walmart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Red Blockchain (Hyperledger Fabric) que registra el recorrido del alimento entre todos los actores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Pilotos de Walmart con cerdo (China) y mangos (EE.UU.): trazabilidad de días → segundos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Registro compartido de origen, lote, ruta logística, certificaciones y controles de calidad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Retiros más precisos: se aísla el lote afectado en vez de eliminar categorías completas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Discusión: ¿en qué procesos públicos serviría un registro inmutable compartido? (compras, permisos, subsidios)</a:t>
            </a:r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– Mecánica: respondan en el chat (3 min); comentaremos 2–3 respuestas antes de continuar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 i="1">
                <a:solidFill>
                  <a:srgbClr val="3A3A3A"/>
                </a:solidFill>
                <a:latin typeface="Roboto Condensed"/>
              </a:rPr>
              <a:t>Fuente: IBM Food Trust · Hyperledger Foundation, caso Walmart (2018)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30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Ética, privacidad y normativa: el hilo transversal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Interoperabilidad estatal = datos personales circulando entre organismos: exige base legal y proporcionalidad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Chile: de la Ley 19.628 a la Ley 21.719 (2024) — consentimiento, finalidad, derechos ARCO, sanciones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Decisiones automatizadas (fiscalización, subsidios, crédito): deben ser explicables, revisables y reclamables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Estándares de gestión: ISO/IEC 27001 (seguridad de la información) e ISO/IEC 42001 (gestión de IA)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Sesgos: un modelo entrenado con datos históricos puede reproducir discriminaciones existentes</a:t>
            </a:r>
            <a:endParaRPr dirty="0"/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Mensaje del diplomado: la IA no reemplaza el criterio humano ni la responsabilidad institucional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31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0" name="Google Shape;240;p38"/>
          <p:cNvSpPr/>
          <p:nvPr/>
        </p:nvSpPr>
        <p:spPr>
          <a:xfrm>
            <a:off x="853440" y="790892"/>
            <a:ext cx="90551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rgbClr val="3A3A3A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Síntesis de la Clase 1</a:t>
            </a:r>
            <a:endParaRPr dirty="0"/>
          </a:p>
        </p:txBody>
      </p:sp>
      <p:sp>
        <p:nvSpPr>
          <p:cNvPr id="241" name="Google Shape;241;p38"/>
          <p:cNvSpPr/>
          <p:nvPr/>
        </p:nvSpPr>
        <p:spPr>
          <a:xfrm>
            <a:off x="889446" y="2014379"/>
            <a:ext cx="9385264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transformación digital responde a lógicas distintas en lo público (valor público) y lo privado (competitividad)</a:t>
            </a:r>
            <a:endParaRPr dirty="0"/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La IA convierte datos en capacidad de anticipación y decisión, si está ligada a la estrategia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El IoT/AIoT conecta el mundo físico con la gestión: de operación reactiva a predictiva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Blockchain aborda el problema de la confianza y la verificación entre múltiples actores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A3A3A"/>
                </a:solidFill>
                <a:latin typeface="Roboto Condensed"/>
              </a:rPr>
              <a:t>• Próxima clase (14 jul): Big Data y BI, Cloud Computing, Automatización y Robótica, Ciberseguridad</a:t>
            </a:r>
          </a:p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srgbClr val="3A3A3A"/>
                </a:solidFill>
                <a:latin typeface="Roboto Condensed"/>
              </a:rPr>
              <a:t>• Material descargable: guía de casos con fuentes y enlaces originales, disponible en el aula virtual</a:t>
            </a:r>
            <a:endParaRPr dirty="0"/>
          </a:p>
        </p:txBody>
      </p:sp>
      <p:pic>
        <p:nvPicPr>
          <p:cNvPr id="252" name="Google Shape;252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20580" y="230187"/>
            <a:ext cx="1866726" cy="5900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9E2EBC40-EC40-BDF2-F68A-0BA88B712A11}"/>
              </a:ext>
            </a:extLst>
          </p:cNvPr>
          <p:cNvSpPr txBox="1">
            <a:spLocks/>
          </p:cNvSpPr>
          <p:nvPr/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t>32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8923" y="1548467"/>
            <a:ext cx="1554222" cy="3584512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5"/>
          <p:cNvSpPr txBox="1"/>
          <p:nvPr/>
        </p:nvSpPr>
        <p:spPr>
          <a:xfrm>
            <a:off x="3067813" y="2224733"/>
            <a:ext cx="511472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595959"/>
                </a:solidFill>
                <a:latin typeface="Roboto Condensed Medium"/>
                <a:ea typeface="Roboto Condensed Medium"/>
                <a:cs typeface="Roboto Condensed Medium"/>
                <a:sym typeface="Roboto Condensed Medium"/>
              </a:rPr>
              <a:t>TRANSFORMACIÓN DIGITAL</a:t>
            </a:r>
          </a:p>
        </p:txBody>
      </p:sp>
      <p:sp>
        <p:nvSpPr>
          <p:cNvPr id="843" name="Google Shape;843;p75"/>
          <p:cNvSpPr txBox="1"/>
          <p:nvPr/>
        </p:nvSpPr>
        <p:spPr>
          <a:xfrm>
            <a:off x="3074538" y="3078433"/>
            <a:ext cx="3946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nl-NL" sz="1200" b="0" i="0" u="none" strike="noStrike" cap="none" dirty="0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Ing. Diego Zamorano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nl-NL" sz="1200" b="0" i="0" u="none" strike="noStrike" cap="none" dirty="0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diego.zamorano.p@mail.pucv.cl</a:t>
            </a:r>
          </a:p>
        </p:txBody>
      </p:sp>
      <p:sp>
        <p:nvSpPr>
          <p:cNvPr id="844" name="Google Shape;844;p75"/>
          <p:cNvSpPr txBox="1"/>
          <p:nvPr/>
        </p:nvSpPr>
        <p:spPr>
          <a:xfrm>
            <a:off x="3067812" y="4005613"/>
            <a:ext cx="4656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© 2026 Escuela de Comercio PUCV. </a:t>
            </a:r>
            <a:endParaRPr sz="1400" b="0" i="0" u="none" strike="noStrike" cap="non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Todos los derechos reservados. </a:t>
            </a:r>
            <a:endParaRPr sz="1400" b="0" i="0" u="none" strike="noStrike" cap="non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Queda estrictamente prohibida la reproducción, distribución o utilización de estas diapositivas sin la autorización expresa y por escrito del autor.</a:t>
            </a:r>
            <a:endParaRPr sz="1400" b="0" i="0" u="none" strike="noStrike" cap="non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Disclaimer: En esta presentación podría existir material generado por inteligencia artificial.</a:t>
            </a:r>
            <a:endParaRPr sz="1400" b="0" i="0" u="none" strike="noStrike" cap="non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45" name="Google Shape;845;p75"/>
          <p:cNvSpPr txBox="1"/>
          <p:nvPr/>
        </p:nvSpPr>
        <p:spPr>
          <a:xfrm>
            <a:off x="3067812" y="2036217"/>
            <a:ext cx="48928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5959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MÓDULO 3: TRANSFORMACIÓN DIGITAL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1DD432F-FDDC-C85E-EE66-AB84DA7830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33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Tema de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 [1781730638519]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Panorámica</PresentationFormat>
  <Paragraphs>18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Roboto Condensed</vt:lpstr>
      <vt:lpstr>Arial</vt:lpstr>
      <vt:lpstr>Play</vt:lpstr>
      <vt:lpstr>Roboto Condensed Medium</vt:lpstr>
      <vt:lpstr>Tema de Office</vt:lpstr>
      <vt:lpstr>Office Theme</vt:lpstr>
      <vt:lpstr>Tema de Office [1781730638519]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Angélica Barrera</cp:lastModifiedBy>
  <cp:revision>1</cp:revision>
  <dcterms:modified xsi:type="dcterms:W3CDTF">2026-06-30T13:56:07Z</dcterms:modified>
</cp:coreProperties>
</file>