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  <p:sldMasterId id="2147483683" r:id="rId3"/>
  </p:sldMasterIdLst>
  <p:notesMasterIdLst>
    <p:notesMasterId r:id="rId7"/>
  </p:notesMasterIdLst>
  <p:sldIdLst>
    <p:sldId id="256" r:id="rId4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20" r:id="rId46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9" r:id="rId45"/>
    <p:sldId id="314" r:id="rId41"/>
    <p:sldId id="318" r:id="rId44"/>
    <p:sldId id="317" r:id="rId5"/>
    <p:sldId id="315" r:id="rId42"/>
    <p:sldId id="316" r:id="rId43"/>
    <p:sldId id="294" r:id="rId6"/>
  </p:sldIdLst>
  <p:sldSz cx="12192000" cy="6858000"/>
  <p:notesSz cx="6858000" cy="9144000"/>
  <p:embeddedFontLst>
    <p:embeddedFont>
      <p:font typeface="Play" panose="020B0604020202020204" charset="0"/>
      <p:regular r:id="rId8"/>
      <p:bold r:id="rId9"/>
    </p:embeddedFont>
    <p:embeddedFont>
      <p:font typeface="Roboto Condensed" panose="02000000000000000000" pitchFamily="2" charset="0"/>
      <p:regular r:id="rId10"/>
      <p:bold r:id="rId11"/>
      <p:italic r:id="rId12"/>
      <p:boldItalic r:id="rId13"/>
    </p:embeddedFont>
    <p:embeddedFont>
      <p:font typeface="Roboto Condensed Medium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6BE66F-247E-4150-94A5-1B4003634044}">
  <a:tblStyle styleId="{326BE66F-247E-4150-94A5-1B40036340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5.xml"/><Relationship Id="rId6" Type="http://schemas.openxmlformats.org/officeDocument/2006/relationships/slide" Target="slides/slide28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3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4.xml"/><Relationship Id="rId45" Type="http://schemas.openxmlformats.org/officeDocument/2006/relationships/slide" Target="slides/slide22.xml"/><Relationship Id="rId4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27" name="Google Shape;2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9" name="Google Shape;8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2"/>
          <p:cNvSpPr txBox="1">
            <a:spLocks noGrp="1"/>
          </p:cNvSpPr>
          <p:nvPr>
            <p:ph type="body" idx="1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5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 rot="5400000">
            <a:off x="7133432" y="1956596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4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98" name="Google Shape;19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2" name="Google Shape;202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3" name="Google Shape;20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05" name="Google Shape;20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0" name="Google Shape;21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12" name="Google Shape;21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18" name="Google Shape;21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7"/>
          <p:cNvPicPr preferRelativeResize="0"/>
          <p:nvPr/>
        </p:nvPicPr>
        <p:blipFill rotWithShape="1">
          <a:blip r:embed="rId3">
            <a:alphaModFix/>
          </a:blip>
          <a:srcRect t="13816" b="1809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7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rgbClr val="A42921">
                  <a:alpha val="70196"/>
                </a:srgbClr>
              </a:gs>
              <a:gs pos="12000">
                <a:srgbClr val="A42921">
                  <a:alpha val="70196"/>
                </a:srgbClr>
              </a:gs>
              <a:gs pos="51000">
                <a:srgbClr val="A42921">
                  <a:alpha val="90196"/>
                </a:srgbClr>
              </a:gs>
              <a:gs pos="100000">
                <a:srgbClr val="A4292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7327" y="356346"/>
            <a:ext cx="1428487" cy="329452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7"/>
          <p:cNvSpPr txBox="1"/>
          <p:nvPr/>
        </p:nvSpPr>
        <p:spPr>
          <a:xfrm>
            <a:off x="746312" y="5923429"/>
            <a:ext cx="30763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Diego Zamorano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diego.zamorano.p@mail.pucv.cl</a:t>
            </a:r>
            <a:endParaRPr lang="en-US" sz="1400" b="0" i="0" u="none" strike="noStrike" cap="none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3" name="Google Shape;233;p37"/>
          <p:cNvSpPr txBox="1"/>
          <p:nvPr/>
        </p:nvSpPr>
        <p:spPr>
          <a:xfrm>
            <a:off x="831257" y="2309898"/>
            <a:ext cx="87453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7200" b="0" i="0" u="none" strike="noStrike" cap="none" dirty="0" err="1">
                <a:solidFill>
                  <a:schemeClr val="lt1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Transformación digital</a:t>
            </a:r>
            <a:endParaRPr sz="1800" dirty="0"/>
          </a:p>
        </p:txBody>
      </p:sp>
      <p:sp>
        <p:nvSpPr>
          <p:cNvPr id="234" name="Google Shape;234;p37"/>
          <p:cNvSpPr txBox="1"/>
          <p:nvPr/>
        </p:nvSpPr>
        <p:spPr>
          <a:xfrm>
            <a:off x="831256" y="2002162"/>
            <a:ext cx="50975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Módulo 3 · Clase 2 · Martes 14 de julio, 19:00–21:00 h</a:t>
            </a:r>
            <a:endParaRPr sz="1400" b="0" i="0" u="none" strike="noStrike" cap="none" dirty="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6EA3A14-3C74-06F2-B702-0B97FE5C57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Agenda de la clase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Big Data y Business Intelligence (BI)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Caso de estudio: modernización analítica en administraciones tributarias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Cloud Computing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Caso de estudio: migración integral de Capital One hacia AWS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Demostración en vivo: dimensionar y cotizar la nube (AWS Pricing Calculator)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Automatización y Robótica Industrial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Casos de estudio: RPA en HMRC y robótica en Ocado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Ciberseguridad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Caso de estudio: NotPetya y el impacto global en Maersk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Ética, privacidad y normativa: cierre del hilo transversal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Síntesis del módulo y orientaciones para la evaluación (21 de julio)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5. Big Data y Business Intelligence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3A3A3A"/>
                </a:solidFill>
                <a:latin typeface="Roboto Condensed Medium"/>
              </a:rPr>
              <a:t>El dato como recurso estratégico de la organización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¿Qué es Big Data? Las 5 V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No es acumulación masiva de información: es capacidad organizacional para gestionar datos complejos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4</a:t>
            </a:r>
            <a:endParaRPr lang="en-US"/>
          </a:p>
        </p:txBody>
      </p:sp>
      <p:graphicFrame>
        <p:nvGraphicFramePr>
          <p:cNvPr id="253" name="Table 252"/>
          <p:cNvGraphicFramePr>
            <a:graphicFrameLocks noGrp="1"/>
          </p:cNvGraphicFramePr>
          <p:nvPr/>
        </p:nvGraphicFramePr>
        <p:xfrm>
          <a:off x="889446" y="2400000"/>
          <a:ext cx="10413108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036"/>
                <a:gridCol w="3471036"/>
                <a:gridCol w="3471036"/>
              </a:tblGrid>
              <a:tr h="56666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 Condensed"/>
                        </a:rPr>
                        <a:t>V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 Condensed"/>
                        </a:rPr>
                        <a:t>Qué significa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 Condensed"/>
                        </a:rPr>
                        <a:t>Ejemplo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</a:tr>
              <a:tr h="56666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Volumen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Enorme cantidad de datos de personas, sistemas y dispositivos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Transacciones, sensores, redes sociales</a:t>
                      </a:r>
                    </a:p>
                  </a:txBody>
                  <a:tcPr/>
                </a:tc>
              </a:tr>
              <a:tr h="56666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Velocidad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Capturar y procesar cerca del momento del evento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Detección de fraude en tiempo real</a:t>
                      </a:r>
                    </a:p>
                  </a:txBody>
                  <a:tcPr/>
                </a:tc>
              </a:tr>
              <a:tr h="56666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Variedad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Datos estructurados y no estructurados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Texto, imagen, audio, video, geolocalización</a:t>
                      </a:r>
                    </a:p>
                  </a:txBody>
                  <a:tcPr/>
                </a:tc>
              </a:tr>
              <a:tr h="56666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Veracidad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Información confiable, consistente y útil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Datos limpios y validados antes de decidir</a:t>
                      </a:r>
                    </a:p>
                  </a:txBody>
                  <a:tcPr/>
                </a:tc>
              </a:tr>
              <a:tr h="566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Solo importan si mejoran decisiones y servicios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Menos quiebres de stock; mejor focalización social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Big Data en la empresa y en el Estado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E-commerce: navegación, historial, carritos abandonados → recomendaciones, precios e inventarios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Telecomunicaciones: anticipar fallas e identificar clientes con riesgo de fuga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Salud pública: atenciones, listas de espera, camas y licencias para planificar recursos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Municipio: reclamos, tránsito, luminarias y basura para priorizar intervenciones territoriales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Privado busca rentabilidad y ventaja competitiva; el Estado busca oportunidad, equidad y focalización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Tener datos ≠ tener capacidad analítica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Datos dispersos en sistemas inconexos, planillas aisladas o bases con errores limitan su uso estratégico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En el Estado: instituciones que guardan información de las mismas personas sin interoperabilidad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problema no es la ausencia de datos: es la falta de gobernanza, integración, calidad e interpretación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Veracidad crítica: decidir con datos incorrectos genera errores operativos y efectos injustos sobre personas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BI: transformar datos en tableros, indicadores y reportes que apoyen la decisión directiva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administraciones tributarias orientadas a datos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recaudación fiscal sostiene salud, educación, seguridad, infraestructura y protección social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Modelo tradicional: auditorías manuales, cruces parciales y selección de casos con criterios generales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Insuficiente frente a estructuras transnacionales, plataformas digitales y facturación falsa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OCDE: "Administración Tributaria 3.0" — información en tiempo real y análisis predictivo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Cruce de registros comerciales, bancarios, aduaneros, laborales y patrimoniales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De un modelo reactivo a uno preventivo que facilita el cumplimiento voluntario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6. Cloud Computing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3A3A3A"/>
                </a:solidFill>
                <a:latin typeface="Roboto Condensed Medium"/>
              </a:rPr>
              <a:t>La infraestructura habilitante de la transformación digital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¿Qué es la nube y qué cambia?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Suministro remoto y bajo demanda de recursos: almacenamiento, bases de datos, redes, servidores, software, analítica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Modelo tradicional: comprar servidores, mantener centros de datos, proyectar capacidad con años de anticipación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Modelo Cloud: recursos elásticos según demanda, pagando por uso efectivo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Cambio financiero: de gastos de capital (CAPEX) a gastos operativos (OPEX)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Escalabilidad como condición de continuidad operacional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Elasticidad ante demanda variable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E-commerce: campañas especiales y fechas de alto consumo sin sobredimensionar todo el año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Universidad: refuerzo en matrículas, evaluaciones y clases masivas en línea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Organismo público: postulaciones a beneficios, emergencias, elecciones, períodos tributarios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Continuidad: arquitecturas distribuidas, respaldo, recuperación ante desastres, múltiples ubicaciones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nube integra IA, Big Data, IoT y BI: servicios nativos de ML, analítica y procesamiento de lenguaje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Capital One migra a AWS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Banca: sector históricamente cauteloso — datos sensibles, disponibilidad permanente, regulación estricta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Decisión estratégica: operar como una empresa de desarrollo de software, no solo como banco tradicional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Migración integral a AWS durante 8 años, con cerca de 11.000 personas en su fuerza tecnológica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Exigió revisar aplicaciones, seguridad, auditoría, gobierno tecnológico y prácticas de desarrollo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Resultado: clausura de centros de datos propios; aplicaciones y datos de clientes 100% en la nube pública</a:t>
            </a:r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i="1">
                <a:solidFill>
                  <a:srgbClr val="3A3A3A"/>
                </a:solidFill>
                <a:latin typeface="Roboto Condensed"/>
              </a:rPr>
              <a:t>Fuente: AWS Case Study — Capital One (aws.amazon.com/solutions/case-studies)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Lecciones del caso Capital One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nube es viable incluso en industrias altamente reguladas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Migrar no es trasladar servidores: es transformar equipos, procesos y modelos de seguridad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ventaja competitiva se traslada a la arquitectura tecnológica que permite innovar con rapidez y seguridad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Discusión: ¿qué frena la adopción de nube en organizaciones chilenas, públicas y privadas?</a:t>
            </a:r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– Mecánica: respondan en el chat (3 min); comentaremos 2–3 respuestas antes de continuar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Demostración en vivo (10 min): dimensionar la nube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AWS Pricing Calculator (calculator.aws): cotizaremos en vivo un servidor para un sistema de gestión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Comparación CAPEX vs. OPEX: servidor propio (compra + mantención) vs. pago por uso mensual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Qué observar: cómo la elasticidad cambia el costo — apagar de noche, escalar en campañas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Ejercicio para replicar: cotizar el escenario de su propia organización (guía en el material descargable)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Plan B ante fallas de conexión: cotización preparada paso a paso (anexo del material descargable)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7. Automatización y Robótica Industrial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3A3A3A"/>
                </a:solidFill>
                <a:latin typeface="Roboto Condensed Medium"/>
              </a:rPr>
              <a:t>Redistribuir el trabajo entre personas y tecnologías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Dos dimensiones de la automatización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Objetivo: liberar tiempo humano de tareas repetitivas, riesgosas o de bajo valor añadido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No es reemplazar personas: es rediseñar la distribución del trabajo entre personas y tecnologías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Automatización digital (software): tareas administrativas, financieras, documentales y de atención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Automatización física (robótica industrial): procesos materiales, logísticos, productivos y de almacenamiento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Misma lógica: reducir errores, aumentar velocidad, mejorar trazabilidad, disminuir costos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RPA: Automatización Robótica de Procesos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Opera de forma no intrusiva en la capa de interfaz: imita las acciones de un trabajador en los sistemas</a:t>
            </a:r>
            <a:endParaRPr dirty="0"/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Abrir correos, extraer datos de planillas, ingresar información, validar campos, generar reportes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Atractiva para organizaciones con sistemas heredados y altos volúmenes administrativos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Finanzas: cotejar facturas con órdenes de compra; RR.HH.: contratos y reportes; seguros: expedientes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En lo público: validar datos contra bases oficiales, clasificar solicitudes, generar comprobantes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Cuidado en el Estado: trazabilidad, legalidad, posibilidad de revisión y responsabilidad institucional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16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RPA en HMRC (Hacienda Británica)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Punto de partida: información de contribuyentes repartida en más de 20 sistemas heredados incompatibles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Estrategia amplia de automatización con Capgemini (NICE, Terraform, Ansible)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Más de 80 soluciones RPA en ~1.500 máquinas virtuales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Más de 18 millones de casos procesados al año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Lección: capacidad institucional permanente de automatización, no pilotos aislados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RPA moderniza sin reemplazar de inmediato la infraestructura heredada</a:t>
            </a:r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i="1">
                <a:solidFill>
                  <a:srgbClr val="3A3A3A"/>
                </a:solidFill>
                <a:latin typeface="Roboto Condensed"/>
              </a:rPr>
              <a:t>Fuente: Capgemini — HMRC client story; UK National Audit Office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17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robótica logística en Ocado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Supermercado online británico con centros de cumplimiento (fulfillment) altamente automatizados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"The Hive": matriz tridimensional de alta densidad donde robots móviles recuperan cajas de productos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Más de mil robots circulando a ~4 m/s, coordinados como un control de tráfico aéreo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Protocolo 4G patentado: instrucciones a cada robot ~10 veces por segundo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inteligencia no está en el robot individual sino en la coordinación global del ecosistema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Discusión: HMRC vs Ocado — ¿qué tareas de su organización son automatizables y cuáles no?</a:t>
            </a:r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– Mecánica: respondan en el chat (3 min); comentaremos 2–3 respuestas antes de continuar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i="1">
                <a:solidFill>
                  <a:srgbClr val="3A3A3A"/>
                </a:solidFill>
                <a:latin typeface="Roboto Condensed"/>
              </a:rPr>
              <a:t>Fuente: Ocado Group — Ocado Smart Platform (ocadogroup.com)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18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8. Ciberseguridad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3A3A3A"/>
                </a:solidFill>
                <a:latin typeface="Roboto Condensed Medium"/>
              </a:rPr>
              <a:t>Condición estratégica de la organización digital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19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La superficie de ataque crece con la digitalización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Cada sistema conectado, nube, dispositivo IoT, app y acceso remoto amplía lo que hay que proteger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Superficie de ataque: puntos por donde un actor malicioso puede ingresar, robar o interrumpir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Organización distribuida: teletrabajo, dispositivos móviles, proveedores integrados por API, sensores IoT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frontera entre "dentro" y "fuera" de la organización se vuelve difusa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ciberseguridad deja de ser función técnica secundaria: sostiene continuidad, confianza y legitimidad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20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Del castillo y foso al Zero Trust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Modelo perimetral clásico: proteger el borde (firewalls, redes cerradas) y confiar en lo que está dentro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Los atacantes explotan esa confianza interna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Phishing para robar credenciales, malware en adjuntos, IoT mal configurado, proveedores débiles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Luego: movimiento lateral, escalada de privilegios, persistencia, ransomware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Zero Trust: nunca confiar por defecto, verificar siempre, limitar lo que cada cuenta o dispositivo puede hacer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problema no es solo impedir el acceso inicial, sino contener lo que ocurre después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21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Perímetro clásico vs. Zero Trust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Dos modelos de seguridad frente al mismo atacante: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22</a:t>
            </a:r>
            <a:endParaRPr lang="en-US"/>
          </a:p>
        </p:txBody>
      </p:sp>
      <p:graphicFrame>
        <p:nvGraphicFramePr>
          <p:cNvPr id="253" name="Table 252"/>
          <p:cNvGraphicFramePr>
            <a:graphicFrameLocks noGrp="1"/>
          </p:cNvGraphicFramePr>
          <p:nvPr/>
        </p:nvGraphicFramePr>
        <p:xfrm>
          <a:off x="889446" y="2500000"/>
          <a:ext cx="10413108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036"/>
                <a:gridCol w="3471036"/>
                <a:gridCol w="3471036"/>
              </a:tblGrid>
              <a:tr h="58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 Condensed"/>
                        </a:rPr>
                        <a:t>Dimensión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 Condensed"/>
                        </a:rPr>
                        <a:t>Perímetro clásico (castillo y foso)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 Condensed"/>
                        </a:rPr>
                        <a:t>Zero Trust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Supuesto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Lo que está dentro de la red es confiable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Nunca confiar por defecto, verificar siempre</a:t>
                      </a:r>
                    </a:p>
                  </a:txBody>
                  <a:tcPr/>
                </a:tc>
              </a:tr>
              <a:tr h="5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Acceso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Amplio una vez dentro del perímetro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Mínimo privilegio por cuenta, dispositivo y aplicación</a:t>
                      </a:r>
                    </a:p>
                  </a:txBody>
                  <a:tcPr/>
                </a:tc>
              </a:tr>
              <a:tr h="5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Verificación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Una vez, al ingresar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Continua, en cada acceso a cada recurso</a:t>
                      </a:r>
                    </a:p>
                  </a:txBody>
                  <a:tcPr/>
                </a:tc>
              </a:tr>
              <a:tr h="5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Daño ante brecha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Movimiento lateral y escalada con poca fricción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Contenido: el atacante queda acotado a un segmento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Impactos de una brecha: empresa y Estado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Empresa: interrupción operativa, robo de propiedad intelectual, fraude, sanciones, daño reputacional</a:t>
            </a:r>
            <a:endParaRPr dirty="0"/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Retail: datos de pago comprometidos; banca: robo de identidad; industria: producción paralizada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Estado: datos tributarios, sanitarios, educacionales y sociales de millones de personas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Interrupción de servicios esenciales para la ciudadanía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ciberseguridad es también gestión: personas capacitadas, procesos, gobernanza y cultura organizacional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23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NotPetya y Maersk (2017)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Malware destructivo distribuido mediante la actualización de un software contable ucraniano (M.E.Doc)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Maersk (≈20% del transporte marítimo mundial): ~49.000 equipos y miles de servidores inutilizados en horas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Operación global degradada ~10 días; pérdidas estimadas en US$250–300 millones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recuperación dependió de una única copia del directorio activo que sobrevivió en una oficina de Ghana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Lecciones: riesgo en la cadena de suministro de software, segmentación de redes, respaldos fuera de línea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Discusión: si sus sistemas cayeran hoy por 10 días, ¿qué proceso crítico no tiene plan manual de respaldo?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– Mecánica: respondan en el chat (3 min); comentaremos 2–3 respuestas antes de continuar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i="1">
                <a:solidFill>
                  <a:srgbClr val="3A3A3A"/>
                </a:solidFill>
                <a:latin typeface="Roboto Condensed"/>
              </a:rPr>
              <a:t>Fuente: Wired — “The Untold Story of NotPetya” (2018); reportes anuales de A.P. Møller-Maersk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24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Automatización responsable: ética y normativa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RPA y decisiones automatizadas sobre personas (impuestos, beneficios): trazables, revisables y reclamables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Chile: Ley 21.719 de protección de datos (2024) y Ley Marco de Ciberseguridad 21.663 (2024)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Estándares de gestión: ISO/IEC 27001 (seguridad de la información) e ISO/IEC 42001 (gestión de IA)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nube no externaliza la responsabilidad: el dueño del dato sigue respondiendo por él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Mensaje del diplomado: la tecnología no reemplaza el criterio humano ni la responsabilidad institucional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25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Síntesis del módulo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transformación digital integra tecnologías con lógicas distintas en lo público y lo privado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IA, IoT y Big Data convierten datos en anticipación y mejores decisiones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Blockchain aporta confianza verificable; la nube es la infraestructura que habilita todo lo anterior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automatización redistribuye el trabajo; la ciberseguridad sostiene la confianza en el sistema completo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Los casos (e-Estonia, ClaveÚnica, John Deere, Walmart, Capital One, HMRC, Ocado, Maersk) muestran que el cambio es estratégico, no solo tecnológico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Material descargable: guía de casos con fuentes y enlaces originales, disponible en el aula virtual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26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Evaluación del módulo — lunes 21 de julio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Repasar los 8 temas del manual del módulo y los casos de estudio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Foco: comprender qué problema de gestión resuelve cada tecnología y sus diferencias público/privado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Apóyense en la guía de casos descargable (fuentes y enlaces) y en las preguntas de discusión de cada clase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Consultas: diego.zamorano.p@mail.pucv.cl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¡Gracias por su participación!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27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8923" y="1548467"/>
            <a:ext cx="1554222" cy="3584512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5"/>
          <p:cNvSpPr txBox="1"/>
          <p:nvPr/>
        </p:nvSpPr>
        <p:spPr>
          <a:xfrm>
            <a:off x="3067813" y="2224733"/>
            <a:ext cx="511472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TRANSFORMACIÓN DIGITAL</a:t>
            </a:r>
          </a:p>
        </p:txBody>
      </p:sp>
      <p:sp>
        <p:nvSpPr>
          <p:cNvPr id="843" name="Google Shape;843;p75"/>
          <p:cNvSpPr txBox="1"/>
          <p:nvPr/>
        </p:nvSpPr>
        <p:spPr>
          <a:xfrm>
            <a:off x="3074538" y="3078433"/>
            <a:ext cx="3946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nl-NL" sz="1200" b="0" i="0" u="none" strike="noStrike" cap="none" dirty="0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Ing. Diego Zamorano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nl-NL" sz="1200" b="0" i="0" u="none" strike="noStrike" cap="none" dirty="0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diego.zamorano.p@mail.pucv.cl</a:t>
            </a:r>
          </a:p>
        </p:txBody>
      </p:sp>
      <p:sp>
        <p:nvSpPr>
          <p:cNvPr id="844" name="Google Shape;844;p75"/>
          <p:cNvSpPr txBox="1"/>
          <p:nvPr/>
        </p:nvSpPr>
        <p:spPr>
          <a:xfrm>
            <a:off x="3067812" y="4005613"/>
            <a:ext cx="4656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© 2026 Escuela de Comercio PUCV. </a:t>
            </a:r>
            <a:endParaRPr sz="1400" b="0" i="0" u="none" strike="noStrike" cap="non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Todos los derechos reservados. </a:t>
            </a:r>
            <a:endParaRPr sz="1400" b="0" i="0" u="none" strike="noStrike" cap="non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Queda estrictamente prohibida la reproducción, distribución o utilización de estas diapositivas sin la autorización expresa y por escrito del autor.</a:t>
            </a:r>
            <a:endParaRPr sz="1400" b="0" i="0" u="none" strike="noStrike" cap="non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Disclaimer: En esta presentación podría existir material generado por inteligencia artificial.</a:t>
            </a:r>
            <a:endParaRPr sz="1400" b="0" i="0" u="none" strike="noStrike" cap="non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5" name="Google Shape;845;p75"/>
          <p:cNvSpPr txBox="1"/>
          <p:nvPr/>
        </p:nvSpPr>
        <p:spPr>
          <a:xfrm>
            <a:off x="3067812" y="2036217"/>
            <a:ext cx="48928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MÓDULO 3: TRANSFORMACIÓN DIGITAL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1DD432F-FDDC-C85E-EE66-AB84DA7830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28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 [1781730638519]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Panorámica</PresentationFormat>
  <Paragraphs>18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Roboto Condensed</vt:lpstr>
      <vt:lpstr>Arial</vt:lpstr>
      <vt:lpstr>Play</vt:lpstr>
      <vt:lpstr>Roboto Condensed Medium</vt:lpstr>
      <vt:lpstr>Tema de Office</vt:lpstr>
      <vt:lpstr>Office Theme</vt:lpstr>
      <vt:lpstr>Tema de Office [1781730638519]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Angélica Barrera</cp:lastModifiedBy>
  <cp:revision>1</cp:revision>
  <dcterms:modified xsi:type="dcterms:W3CDTF">2026-06-30T13:56:07Z</dcterms:modified>
</cp:coreProperties>
</file>